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66" r:id="rId5"/>
    <p:sldId id="259" r:id="rId6"/>
    <p:sldId id="260" r:id="rId7"/>
    <p:sldId id="261" r:id="rId8"/>
    <p:sldId id="262" r:id="rId9"/>
    <p:sldId id="263" r:id="rId10"/>
    <p:sldId id="264" r:id="rId11"/>
  </p:sldIdLst>
  <p:sldSz cx="18288000" cy="10287000"/>
  <p:notesSz cx="6858000" cy="9144000"/>
  <p:embeddedFontLst>
    <p:embeddedFont>
      <p:font typeface="Poppins Semi-Bold" panose="020B0604020202020204" charset="0"/>
      <p:regular r:id="rId12"/>
    </p:embeddedFont>
    <p:embeddedFont>
      <p:font typeface="Times New Roman Bold" panose="02020803070505020304" pitchFamily="18" charset="0"/>
      <p:regular r:id="rId13"/>
      <p:bold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3" d="100"/>
          <a:sy n="43" d="100"/>
        </p:scale>
        <p:origin x="936"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t>4/30/2025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4/30/2025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t>4/30/2025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4/30/2025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4/30/2025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4/30/2025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4/30/2025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7.jpeg"/><Relationship Id="rId5" Type="http://schemas.openxmlformats.org/officeDocument/2006/relationships/image" Target="../media/image5.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8" Type="http://schemas.openxmlformats.org/officeDocument/2006/relationships/hyperlink" Target="https://www.researchgate.net/publication/387698407_Attendance_System_With_Facial_Recognition_Using_AI" TargetMode="External"/><Relationship Id="rId3" Type="http://schemas.openxmlformats.org/officeDocument/2006/relationships/image" Target="../media/image3.png"/><Relationship Id="rId7" Type="http://schemas.openxmlformats.org/officeDocument/2006/relationships/hyperlink" Target="https://github.com/BhardwajArjit/Real-time-Student-Class-Attendance-System-Utilising-AI-Face-Recognition" TargetMode="External"/><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hyperlink" Target="https://github.com/gunarakulangunaretnam/face-recognition-based-attendance-system" TargetMode="External"/><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hyperlink" Target="https://abhivruddhi.mituniversity.ac.in/wp-content/uploads/2023/08/Research-Paper_Sachin-Jagadale.pdf"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 name="Freeform 3"/>
          <p:cNvSpPr/>
          <p:nvPr/>
        </p:nvSpPr>
        <p:spPr>
          <a:xfrm>
            <a:off x="6214198" y="189277"/>
            <a:ext cx="5292017" cy="1678847"/>
          </a:xfrm>
          <a:custGeom>
            <a:avLst/>
            <a:gdLst/>
            <a:ahLst/>
            <a:cxnLst/>
            <a:rect l="l" t="t" r="r" b="b"/>
            <a:pathLst>
              <a:path w="5292017" h="1678847">
                <a:moveTo>
                  <a:pt x="0" y="0"/>
                </a:moveTo>
                <a:lnTo>
                  <a:pt x="5292017" y="0"/>
                </a:lnTo>
                <a:lnTo>
                  <a:pt x="5292017" y="1678846"/>
                </a:lnTo>
                <a:lnTo>
                  <a:pt x="0" y="1678846"/>
                </a:lnTo>
                <a:lnTo>
                  <a:pt x="0" y="0"/>
                </a:lnTo>
                <a:close/>
              </a:path>
            </a:pathLst>
          </a:custGeom>
          <a:blipFill>
            <a:blip r:embed="rId3"/>
            <a:stretch>
              <a:fillRect/>
            </a:stretch>
          </a:blipFill>
        </p:spPr>
      </p:sp>
      <p:sp>
        <p:nvSpPr>
          <p:cNvPr id="4" name="Freeform 4"/>
          <p:cNvSpPr/>
          <p:nvPr/>
        </p:nvSpPr>
        <p:spPr>
          <a:xfrm>
            <a:off x="2274368" y="302299"/>
            <a:ext cx="3042518" cy="1452802"/>
          </a:xfrm>
          <a:custGeom>
            <a:avLst/>
            <a:gdLst/>
            <a:ahLst/>
            <a:cxnLst/>
            <a:rect l="l" t="t" r="r" b="b"/>
            <a:pathLst>
              <a:path w="3042518" h="1452802">
                <a:moveTo>
                  <a:pt x="0" y="0"/>
                </a:moveTo>
                <a:lnTo>
                  <a:pt x="3042518" y="0"/>
                </a:lnTo>
                <a:lnTo>
                  <a:pt x="3042518" y="1452802"/>
                </a:lnTo>
                <a:lnTo>
                  <a:pt x="0" y="1452802"/>
                </a:lnTo>
                <a:lnTo>
                  <a:pt x="0" y="0"/>
                </a:lnTo>
                <a:close/>
              </a:path>
            </a:pathLst>
          </a:custGeom>
          <a:blipFill>
            <a:blip r:embed="rId4"/>
            <a:stretch>
              <a:fillRect/>
            </a:stretch>
          </a:blipFill>
        </p:spPr>
      </p:sp>
      <p:sp>
        <p:nvSpPr>
          <p:cNvPr id="5" name="Freeform 5"/>
          <p:cNvSpPr/>
          <p:nvPr/>
        </p:nvSpPr>
        <p:spPr>
          <a:xfrm>
            <a:off x="13119591" y="302299"/>
            <a:ext cx="1868213" cy="1868213"/>
          </a:xfrm>
          <a:custGeom>
            <a:avLst/>
            <a:gdLst/>
            <a:ahLst/>
            <a:cxnLst/>
            <a:rect l="l" t="t" r="r" b="b"/>
            <a:pathLst>
              <a:path w="1868213" h="1868213">
                <a:moveTo>
                  <a:pt x="0" y="0"/>
                </a:moveTo>
                <a:lnTo>
                  <a:pt x="1868213" y="0"/>
                </a:lnTo>
                <a:lnTo>
                  <a:pt x="1868213" y="1868213"/>
                </a:lnTo>
                <a:lnTo>
                  <a:pt x="0" y="1868213"/>
                </a:lnTo>
                <a:lnTo>
                  <a:pt x="0" y="0"/>
                </a:lnTo>
                <a:close/>
              </a:path>
            </a:pathLst>
          </a:custGeom>
          <a:blipFill>
            <a:blip r:embed="rId5"/>
            <a:stretch>
              <a:fillRect/>
            </a:stretch>
          </a:blipFill>
        </p:spPr>
      </p:sp>
      <p:sp>
        <p:nvSpPr>
          <p:cNvPr id="6" name="TextBox 6"/>
          <p:cNvSpPr txBox="1"/>
          <p:nvPr/>
        </p:nvSpPr>
        <p:spPr>
          <a:xfrm>
            <a:off x="488950" y="4198620"/>
            <a:ext cx="15848330" cy="8956675"/>
          </a:xfrm>
          <a:prstGeom prst="rect">
            <a:avLst/>
          </a:prstGeom>
        </p:spPr>
        <p:txBody>
          <a:bodyPr lIns="0" tIns="0" rIns="0" bIns="0" rtlCol="0" anchor="t">
            <a:spAutoFit/>
          </a:bodyPr>
          <a:lstStyle/>
          <a:p>
            <a:pPr algn="just">
              <a:lnSpc>
                <a:spcPts val="5425"/>
              </a:lnSpc>
            </a:pPr>
            <a:endParaRPr dirty="0"/>
          </a:p>
          <a:p>
            <a:pPr algn="just">
              <a:lnSpc>
                <a:spcPts val="5425"/>
              </a:lnSpc>
            </a:pPr>
            <a:r>
              <a:rPr lang="en-US" sz="2995" b="1" dirty="0">
                <a:solidFill>
                  <a:srgbClr val="000000"/>
                </a:solidFill>
                <a:latin typeface="Poppins Semi-Bold"/>
                <a:ea typeface="Poppins Semi-Bold"/>
                <a:cs typeface="Poppins Semi-Bold"/>
                <a:sym typeface="Poppins Semi-Bold"/>
              </a:rPr>
              <a:t>•Problem Statement</a:t>
            </a:r>
            <a:r>
              <a:rPr lang="en-AU" altLang="en-US" sz="2995" b="1" dirty="0">
                <a:solidFill>
                  <a:srgbClr val="000000"/>
                </a:solidFill>
                <a:latin typeface="Poppins Semi-Bold"/>
                <a:ea typeface="Poppins Semi-Bold"/>
                <a:cs typeface="Poppins Semi-Bold"/>
                <a:sym typeface="Poppins Semi-Bold"/>
              </a:rPr>
              <a:t>-</a:t>
            </a:r>
            <a:r>
              <a:rPr lang="en-AU" altLang="en-US" sz="2995" dirty="0">
                <a:solidFill>
                  <a:srgbClr val="121212"/>
                </a:solidFill>
                <a:latin typeface="Poppins Semi-Bold"/>
                <a:ea typeface="Poppins Semi-Bold"/>
                <a:cs typeface="Poppins Semi-Bold"/>
                <a:sym typeface="Poppins Semi-Bold"/>
              </a:rPr>
              <a:t>AI-Powered Face Recognition Attendance System</a:t>
            </a:r>
          </a:p>
          <a:p>
            <a:pPr algn="just">
              <a:lnSpc>
                <a:spcPts val="5425"/>
              </a:lnSpc>
            </a:pPr>
            <a:r>
              <a:rPr lang="en-US" sz="2995" b="1" dirty="0">
                <a:solidFill>
                  <a:srgbClr val="000000"/>
                </a:solidFill>
                <a:latin typeface="Poppins Semi-Bold"/>
                <a:ea typeface="Poppins Semi-Bold"/>
                <a:cs typeface="Poppins Semi-Bold"/>
                <a:sym typeface="Poppins Semi-Bold"/>
              </a:rPr>
              <a:t>•Theme - Education</a:t>
            </a:r>
          </a:p>
          <a:p>
            <a:pPr algn="just">
              <a:lnSpc>
                <a:spcPts val="5425"/>
              </a:lnSpc>
            </a:pPr>
            <a:r>
              <a:rPr lang="en-US" sz="2995" b="1" dirty="0">
                <a:solidFill>
                  <a:srgbClr val="000000"/>
                </a:solidFill>
                <a:latin typeface="Poppins Semi-Bold"/>
                <a:ea typeface="Poppins Semi-Bold"/>
                <a:cs typeface="Poppins Semi-Bold"/>
                <a:sym typeface="Poppins Semi-Bold"/>
              </a:rPr>
              <a:t>•Team ID </a:t>
            </a:r>
            <a:r>
              <a:rPr lang="en-US" sz="2400" u="none" dirty="0">
                <a:solidFill>
                  <a:srgbClr val="000000"/>
                </a:solidFill>
                <a:latin typeface="Poppins Semi-Bold"/>
                <a:ea typeface="Poppins Semi-Bold"/>
                <a:cs typeface="Poppins Semi-Bold"/>
                <a:sym typeface="Poppins Semi-Bold"/>
              </a:rPr>
              <a:t>-</a:t>
            </a:r>
            <a:r>
              <a:rPr lang="en-AU" altLang="en-US" sz="2400" u="none" dirty="0">
                <a:solidFill>
                  <a:srgbClr val="000000"/>
                </a:solidFill>
                <a:latin typeface="Poppins Semi-Bold"/>
                <a:ea typeface="Poppins Semi-Bold"/>
                <a:cs typeface="Poppins Semi-Bold"/>
                <a:sym typeface="Poppins Semi-Bold"/>
              </a:rPr>
              <a:t>TEJCYB21</a:t>
            </a:r>
          </a:p>
          <a:p>
            <a:pPr algn="just">
              <a:lnSpc>
                <a:spcPts val="5425"/>
              </a:lnSpc>
            </a:pPr>
            <a:r>
              <a:rPr lang="en-US" sz="2995" b="1" dirty="0">
                <a:solidFill>
                  <a:srgbClr val="000000"/>
                </a:solidFill>
                <a:latin typeface="Poppins Semi-Bold"/>
                <a:ea typeface="Poppins Semi-Bold"/>
                <a:cs typeface="Poppins Semi-Bold"/>
                <a:sym typeface="Poppins Semi-Bold"/>
              </a:rPr>
              <a:t>•Team Name (Registered on Website) </a:t>
            </a:r>
            <a:r>
              <a:rPr lang="en-US" sz="2400" i="1" u="none" dirty="0">
                <a:solidFill>
                  <a:srgbClr val="000000"/>
                </a:solidFill>
                <a:latin typeface="Poppins Semi-Bold"/>
                <a:ea typeface="Poppins Semi-Bold"/>
                <a:cs typeface="Poppins Semi-Bold"/>
                <a:sym typeface="Poppins Semi-Bold"/>
              </a:rPr>
              <a:t>-</a:t>
            </a:r>
            <a:r>
              <a:rPr lang="en-AU" altLang="en-US" sz="2400" i="1" u="none" dirty="0">
                <a:solidFill>
                  <a:srgbClr val="000000"/>
                </a:solidFill>
                <a:latin typeface="Poppins Semi-Bold"/>
                <a:ea typeface="Poppins Semi-Bold"/>
                <a:cs typeface="Poppins Semi-Bold"/>
                <a:sym typeface="Poppins Semi-Bold"/>
              </a:rPr>
              <a:t>Cyber2</a:t>
            </a:r>
          </a:p>
          <a:p>
            <a:pPr algn="just">
              <a:lnSpc>
                <a:spcPts val="5425"/>
              </a:lnSpc>
            </a:pPr>
            <a:r>
              <a:rPr lang="en-US" sz="2995" b="1" dirty="0">
                <a:solidFill>
                  <a:srgbClr val="000000"/>
                </a:solidFill>
                <a:latin typeface="Poppins Semi-Bold"/>
                <a:ea typeface="Poppins Semi-Bold"/>
                <a:cs typeface="Poppins Semi-Bold"/>
                <a:sym typeface="Poppins Semi-Bold"/>
              </a:rPr>
              <a:t>•Participant Name</a:t>
            </a:r>
            <a:r>
              <a:rPr lang="en-US" sz="2800" u="sng" dirty="0">
                <a:solidFill>
                  <a:srgbClr val="121212"/>
                </a:solidFill>
                <a:latin typeface="Poppins Semi-Bold"/>
                <a:ea typeface="Poppins Semi-Bold"/>
                <a:cs typeface="Poppins Semi-Bold"/>
                <a:sym typeface="Poppins Semi-Bold"/>
              </a:rPr>
              <a:t>s </a:t>
            </a:r>
            <a:r>
              <a:rPr lang="en-US" sz="2800" u="none" dirty="0">
                <a:solidFill>
                  <a:srgbClr val="121212"/>
                </a:solidFill>
                <a:latin typeface="Poppins Semi-Bold"/>
                <a:ea typeface="Poppins Semi-Bold"/>
                <a:cs typeface="Poppins Semi-Bold"/>
                <a:sym typeface="Poppins Semi-Bold"/>
              </a:rPr>
              <a:t>-</a:t>
            </a:r>
            <a:r>
              <a:rPr lang="en-AU" altLang="en-US" sz="2800" u="none" dirty="0" err="1">
                <a:solidFill>
                  <a:srgbClr val="121212"/>
                </a:solidFill>
                <a:latin typeface="Poppins Semi-Bold"/>
                <a:ea typeface="Poppins Semi-Bold"/>
                <a:cs typeface="Poppins Semi-Bold"/>
                <a:sym typeface="Poppins Semi-Bold"/>
              </a:rPr>
              <a:t>M.Tejasri</a:t>
            </a:r>
            <a:r>
              <a:rPr lang="en-AU" altLang="en-US" sz="2800" u="none" dirty="0">
                <a:solidFill>
                  <a:srgbClr val="121212"/>
                </a:solidFill>
                <a:latin typeface="Poppins Semi-Bold"/>
                <a:ea typeface="Poppins Semi-Bold"/>
                <a:cs typeface="Poppins Semi-Bold"/>
                <a:sym typeface="Poppins Semi-Bold"/>
              </a:rPr>
              <a:t>   </a:t>
            </a:r>
            <a:r>
              <a:rPr lang="en-AU" altLang="en-US" sz="2800" u="none" dirty="0" err="1">
                <a:solidFill>
                  <a:srgbClr val="121212"/>
                </a:solidFill>
                <a:latin typeface="Poppins Semi-Bold"/>
                <a:ea typeface="Poppins Semi-Bold"/>
                <a:cs typeface="Poppins Semi-Bold"/>
                <a:sym typeface="Poppins Semi-Bold"/>
              </a:rPr>
              <a:t>CH.Manideepa</a:t>
            </a:r>
            <a:endParaRPr lang="en-AU" altLang="en-US" sz="2800" u="none" dirty="0">
              <a:solidFill>
                <a:srgbClr val="121212"/>
              </a:solidFill>
              <a:latin typeface="Poppins Semi-Bold"/>
              <a:ea typeface="Poppins Semi-Bold"/>
              <a:cs typeface="Poppins Semi-Bold"/>
              <a:sym typeface="Poppins Semi-Bold"/>
            </a:endParaRPr>
          </a:p>
          <a:p>
            <a:pPr algn="just">
              <a:lnSpc>
                <a:spcPts val="5425"/>
              </a:lnSpc>
            </a:pPr>
            <a:r>
              <a:rPr lang="en-AU" altLang="en-US" sz="2800" u="none" dirty="0">
                <a:solidFill>
                  <a:srgbClr val="121212"/>
                </a:solidFill>
                <a:latin typeface="Poppins Semi-Bold"/>
                <a:ea typeface="Poppins Semi-Bold"/>
                <a:cs typeface="Poppins Semi-Bold"/>
                <a:sym typeface="Poppins Semi-Bold"/>
              </a:rPr>
              <a:t>                                          </a:t>
            </a:r>
            <a:r>
              <a:rPr lang="en-AU" altLang="en-US" sz="2800" u="none" dirty="0" err="1">
                <a:solidFill>
                  <a:srgbClr val="121212"/>
                </a:solidFill>
                <a:latin typeface="Poppins Semi-Bold"/>
                <a:ea typeface="Poppins Semi-Bold"/>
                <a:cs typeface="Poppins Semi-Bold"/>
                <a:sym typeface="Poppins Semi-Bold"/>
              </a:rPr>
              <a:t>Y.Harshini</a:t>
            </a:r>
            <a:r>
              <a:rPr lang="en-AU" altLang="en-US" sz="2800" u="none" dirty="0">
                <a:solidFill>
                  <a:srgbClr val="121212"/>
                </a:solidFill>
                <a:latin typeface="Poppins Semi-Bold"/>
                <a:ea typeface="Poppins Semi-Bold"/>
                <a:cs typeface="Poppins Semi-Bold"/>
                <a:sym typeface="Poppins Semi-Bold"/>
              </a:rPr>
              <a:t>.   </a:t>
            </a:r>
            <a:r>
              <a:rPr lang="en-AU" altLang="en-US" sz="2800" u="none" dirty="0" err="1">
                <a:solidFill>
                  <a:srgbClr val="121212"/>
                </a:solidFill>
                <a:latin typeface="Poppins Semi-Bold"/>
                <a:ea typeface="Poppins Semi-Bold"/>
                <a:cs typeface="Poppins Semi-Bold"/>
                <a:sym typeface="Poppins Semi-Bold"/>
              </a:rPr>
              <a:t>K.Yashaswini</a:t>
            </a:r>
            <a:endParaRPr lang="en-AU" altLang="en-US" sz="2800" u="none" dirty="0">
              <a:solidFill>
                <a:srgbClr val="121212"/>
              </a:solidFill>
              <a:latin typeface="Poppins Semi-Bold"/>
              <a:ea typeface="Poppins Semi-Bold"/>
              <a:cs typeface="Poppins Semi-Bold"/>
              <a:sym typeface="Poppins Semi-Bold"/>
            </a:endParaRPr>
          </a:p>
          <a:p>
            <a:pPr algn="just">
              <a:lnSpc>
                <a:spcPts val="5425"/>
              </a:lnSpc>
            </a:pPr>
            <a:r>
              <a:rPr lang="en-AU" altLang="en-US" sz="2400" b="1" dirty="0">
                <a:solidFill>
                  <a:schemeClr val="tx1">
                    <a:lumMod val="50000"/>
                    <a:lumOff val="50000"/>
                  </a:schemeClr>
                </a:solidFill>
                <a:latin typeface="Poppins Semi-Bold"/>
                <a:ea typeface="Poppins Semi-Bold"/>
                <a:cs typeface="Poppins Semi-Bold"/>
                <a:sym typeface="Poppins Semi-Bold"/>
              </a:rPr>
              <a:t>                                   </a:t>
            </a:r>
          </a:p>
          <a:p>
            <a:pPr algn="just">
              <a:lnSpc>
                <a:spcPts val="5425"/>
              </a:lnSpc>
            </a:pPr>
            <a:endParaRPr lang="en-AU" altLang="en-US" sz="2400" b="1" dirty="0">
              <a:solidFill>
                <a:schemeClr val="tx1">
                  <a:lumMod val="50000"/>
                  <a:lumOff val="50000"/>
                </a:schemeClr>
              </a:solidFill>
              <a:latin typeface="Poppins Semi-Bold"/>
              <a:ea typeface="Poppins Semi-Bold"/>
              <a:cs typeface="Poppins Semi-Bold"/>
              <a:sym typeface="Poppins Semi-Bold"/>
            </a:endParaRPr>
          </a:p>
          <a:p>
            <a:pPr algn="just">
              <a:lnSpc>
                <a:spcPts val="5425"/>
              </a:lnSpc>
            </a:pPr>
            <a:endParaRPr lang="en-AU" altLang="en-US" sz="2400" b="1" dirty="0">
              <a:solidFill>
                <a:schemeClr val="tx1">
                  <a:lumMod val="50000"/>
                  <a:lumOff val="50000"/>
                </a:schemeClr>
              </a:solidFill>
              <a:latin typeface="Poppins Semi-Bold"/>
              <a:ea typeface="Poppins Semi-Bold"/>
              <a:cs typeface="Poppins Semi-Bold"/>
              <a:sym typeface="Poppins Semi-Bold"/>
            </a:endParaRPr>
          </a:p>
          <a:p>
            <a:pPr algn="just">
              <a:lnSpc>
                <a:spcPts val="5425"/>
              </a:lnSpc>
            </a:pPr>
            <a:r>
              <a:rPr lang="en-AU" altLang="en-US" sz="2400" b="1" dirty="0">
                <a:solidFill>
                  <a:schemeClr val="tx1">
                    <a:lumMod val="50000"/>
                    <a:lumOff val="50000"/>
                  </a:schemeClr>
                </a:solidFill>
                <a:latin typeface="Poppins Semi-Bold"/>
                <a:ea typeface="Poppins Semi-Bold"/>
                <a:cs typeface="Poppins Semi-Bold"/>
                <a:sym typeface="Poppins Semi-Bold"/>
              </a:rPr>
              <a:t>                                          </a:t>
            </a:r>
          </a:p>
          <a:p>
            <a:pPr algn="just">
              <a:lnSpc>
                <a:spcPts val="5425"/>
              </a:lnSpc>
            </a:pPr>
            <a:r>
              <a:rPr lang="en-AU" altLang="en-US" sz="2400" b="1" dirty="0">
                <a:solidFill>
                  <a:schemeClr val="tx1">
                    <a:lumMod val="50000"/>
                    <a:lumOff val="50000"/>
                  </a:schemeClr>
                </a:solidFill>
                <a:latin typeface="Poppins Semi-Bold"/>
                <a:ea typeface="Poppins Semi-Bold"/>
                <a:cs typeface="Poppins Semi-Bold"/>
                <a:sym typeface="Poppins Semi-Bold"/>
              </a:rPr>
              <a:t>                                          </a:t>
            </a:r>
          </a:p>
          <a:p>
            <a:pPr algn="just">
              <a:lnSpc>
                <a:spcPts val="5425"/>
              </a:lnSpc>
            </a:pPr>
            <a:endParaRPr lang="en-AU" altLang="en-US" sz="2400" b="1" dirty="0">
              <a:solidFill>
                <a:schemeClr val="tx1"/>
              </a:solidFill>
              <a:latin typeface="Poppins Semi-Bold"/>
              <a:ea typeface="Poppins Semi-Bold"/>
              <a:cs typeface="Poppins Semi-Bold"/>
              <a:sym typeface="Poppins Semi-Bold"/>
            </a:endParaRPr>
          </a:p>
        </p:txBody>
      </p:sp>
      <p:sp>
        <p:nvSpPr>
          <p:cNvPr id="7" name="Freeform 7"/>
          <p:cNvSpPr/>
          <p:nvPr/>
        </p:nvSpPr>
        <p:spPr>
          <a:xfrm>
            <a:off x="45723" y="9692353"/>
            <a:ext cx="18242277" cy="594647"/>
          </a:xfrm>
          <a:custGeom>
            <a:avLst/>
            <a:gdLst/>
            <a:ahLst/>
            <a:cxnLst/>
            <a:rect l="l" t="t" r="r" b="b"/>
            <a:pathLst>
              <a:path w="18242277" h="594647">
                <a:moveTo>
                  <a:pt x="0" y="0"/>
                </a:moveTo>
                <a:lnTo>
                  <a:pt x="18242277" y="0"/>
                </a:lnTo>
                <a:lnTo>
                  <a:pt x="18242277" y="594647"/>
                </a:lnTo>
                <a:lnTo>
                  <a:pt x="0" y="594647"/>
                </a:lnTo>
                <a:lnTo>
                  <a:pt x="0" y="0"/>
                </a:lnTo>
                <a:close/>
              </a:path>
            </a:pathLst>
          </a:custGeom>
          <a:blipFill>
            <a:blip r:embed="rId6"/>
            <a:stretch>
              <a:fillRect b="-34214"/>
            </a:stretch>
          </a:blipFill>
        </p:spPr>
      </p:sp>
      <p:sp>
        <p:nvSpPr>
          <p:cNvPr id="8" name="TextBox 8"/>
          <p:cNvSpPr txBox="1"/>
          <p:nvPr/>
        </p:nvSpPr>
        <p:spPr>
          <a:xfrm>
            <a:off x="16666900" y="9794298"/>
            <a:ext cx="1621100" cy="333608"/>
          </a:xfrm>
          <a:prstGeom prst="rect">
            <a:avLst/>
          </a:prstGeom>
        </p:spPr>
        <p:txBody>
          <a:bodyPr lIns="0" tIns="0" rIns="0" bIns="0" rtlCol="0" anchor="t">
            <a:spAutoFit/>
          </a:bodyPr>
          <a:lstStyle/>
          <a:p>
            <a:pPr algn="l">
              <a:lnSpc>
                <a:spcPts val="2610"/>
              </a:lnSpc>
            </a:pPr>
            <a:r>
              <a:rPr lang="en-US" sz="1865" b="1">
                <a:solidFill>
                  <a:srgbClr val="F4E9EC"/>
                </a:solidFill>
                <a:latin typeface="Poppins Semi-Bold"/>
                <a:ea typeface="Poppins Semi-Bold"/>
                <a:cs typeface="Poppins Semi-Bold"/>
                <a:sym typeface="Poppins Semi-Bold"/>
              </a:rPr>
              <a:t>Page 01</a:t>
            </a:r>
          </a:p>
        </p:txBody>
      </p:sp>
      <p:sp>
        <p:nvSpPr>
          <p:cNvPr id="9" name="TextBox 9"/>
          <p:cNvSpPr txBox="1"/>
          <p:nvPr/>
        </p:nvSpPr>
        <p:spPr>
          <a:xfrm>
            <a:off x="5734076" y="1951437"/>
            <a:ext cx="6730981" cy="2966974"/>
          </a:xfrm>
          <a:prstGeom prst="rect">
            <a:avLst/>
          </a:prstGeom>
        </p:spPr>
        <p:txBody>
          <a:bodyPr lIns="0" tIns="0" rIns="0" bIns="0" rtlCol="0" anchor="t">
            <a:spAutoFit/>
          </a:bodyPr>
          <a:lstStyle/>
          <a:p>
            <a:pPr algn="ctr">
              <a:lnSpc>
                <a:spcPts val="7615"/>
              </a:lnSpc>
            </a:pPr>
            <a:endParaRPr/>
          </a:p>
          <a:p>
            <a:pPr algn="ctr">
              <a:lnSpc>
                <a:spcPts val="7615"/>
              </a:lnSpc>
              <a:spcBef>
                <a:spcPct val="0"/>
              </a:spcBef>
            </a:pPr>
            <a:r>
              <a:rPr lang="en-US" sz="5440" b="1">
                <a:solidFill>
                  <a:srgbClr val="000000"/>
                </a:solidFill>
                <a:latin typeface="Times New Roman Bold"/>
                <a:ea typeface="Times New Roman Bold"/>
                <a:cs typeface="Times New Roman Bold"/>
                <a:sym typeface="Times New Roman Bold"/>
              </a:rPr>
              <a:t>TITLE PAGE</a:t>
            </a:r>
          </a:p>
          <a:p>
            <a:pPr algn="ctr">
              <a:lnSpc>
                <a:spcPts val="7615"/>
              </a:lnSpc>
              <a:spcBef>
                <a:spcPct val="0"/>
              </a:spcBef>
            </a:pPr>
            <a:endParaRPr lang="en-US" sz="5440" b="1">
              <a:solidFill>
                <a:srgbClr val="000000"/>
              </a:solidFill>
              <a:latin typeface="Times New Roman Bold"/>
              <a:ea typeface="Times New Roman Bold"/>
              <a:cs typeface="Times New Roman Bold"/>
              <a:sym typeface="Times New Roman Bold"/>
            </a:endParaRPr>
          </a:p>
        </p:txBody>
      </p:sp>
      <p:sp>
        <p:nvSpPr>
          <p:cNvPr id="10" name="TextBox 10"/>
          <p:cNvSpPr txBox="1"/>
          <p:nvPr/>
        </p:nvSpPr>
        <p:spPr>
          <a:xfrm>
            <a:off x="3321979" y="9794298"/>
            <a:ext cx="11076454" cy="333608"/>
          </a:xfrm>
          <a:prstGeom prst="rect">
            <a:avLst/>
          </a:prstGeom>
        </p:spPr>
        <p:txBody>
          <a:bodyPr lIns="0" tIns="0" rIns="0" bIns="0" rtlCol="0" anchor="t">
            <a:spAutoFit/>
          </a:bodyPr>
          <a:lstStyle/>
          <a:p>
            <a:pPr algn="ctr">
              <a:lnSpc>
                <a:spcPts val="2610"/>
              </a:lnSpc>
              <a:spcBef>
                <a:spcPct val="0"/>
              </a:spcBef>
            </a:pPr>
            <a:r>
              <a:rPr lang="en-US" sz="1865" b="1">
                <a:solidFill>
                  <a:srgbClr val="F4E9EC"/>
                </a:solidFill>
                <a:latin typeface="Poppins Semi-Bold"/>
                <a:ea typeface="Poppins Semi-Bold"/>
                <a:cs typeface="Poppins Semi-Bold"/>
                <a:sym typeface="Poppins Semi-Bold"/>
              </a:rPr>
              <a:t>Sri Indu College of Engg &amp; Tech - Cyber Club, Department of Cyber Security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82930" y="-159385"/>
            <a:ext cx="1887093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IN" dirty="0"/>
          </a:p>
        </p:txBody>
      </p:sp>
      <p:sp>
        <p:nvSpPr>
          <p:cNvPr id="3" name="Freeform 3"/>
          <p:cNvSpPr/>
          <p:nvPr/>
        </p:nvSpPr>
        <p:spPr>
          <a:xfrm>
            <a:off x="15910982" y="463512"/>
            <a:ext cx="2113659" cy="1009272"/>
          </a:xfrm>
          <a:custGeom>
            <a:avLst/>
            <a:gdLst/>
            <a:ahLst/>
            <a:cxnLst/>
            <a:rect l="l" t="t" r="r" b="b"/>
            <a:pathLst>
              <a:path w="2113659" h="1009272">
                <a:moveTo>
                  <a:pt x="0" y="0"/>
                </a:moveTo>
                <a:lnTo>
                  <a:pt x="2113659" y="0"/>
                </a:lnTo>
                <a:lnTo>
                  <a:pt x="2113659" y="1009272"/>
                </a:lnTo>
                <a:lnTo>
                  <a:pt x="0" y="1009272"/>
                </a:lnTo>
                <a:lnTo>
                  <a:pt x="0" y="0"/>
                </a:lnTo>
                <a:close/>
              </a:path>
            </a:pathLst>
          </a:custGeom>
          <a:blipFill>
            <a:blip r:embed="rId3"/>
            <a:stretch>
              <a:fillRect/>
            </a:stretch>
          </a:blipFill>
        </p:spPr>
      </p:sp>
      <p:sp>
        <p:nvSpPr>
          <p:cNvPr id="4" name="Freeform 4"/>
          <p:cNvSpPr/>
          <p:nvPr/>
        </p:nvSpPr>
        <p:spPr>
          <a:xfrm>
            <a:off x="-582929" y="9692353"/>
            <a:ext cx="18870930" cy="594647"/>
          </a:xfrm>
          <a:custGeom>
            <a:avLst/>
            <a:gdLst/>
            <a:ahLst/>
            <a:cxnLst/>
            <a:rect l="l" t="t" r="r" b="b"/>
            <a:pathLst>
              <a:path w="18242277" h="594647">
                <a:moveTo>
                  <a:pt x="0" y="0"/>
                </a:moveTo>
                <a:lnTo>
                  <a:pt x="18242277" y="0"/>
                </a:lnTo>
                <a:lnTo>
                  <a:pt x="18242277" y="594647"/>
                </a:lnTo>
                <a:lnTo>
                  <a:pt x="0" y="594647"/>
                </a:lnTo>
                <a:lnTo>
                  <a:pt x="0" y="0"/>
                </a:lnTo>
                <a:close/>
              </a:path>
            </a:pathLst>
          </a:custGeom>
          <a:blipFill>
            <a:blip r:embed="rId4"/>
            <a:stretch>
              <a:fillRect b="-34214"/>
            </a:stretch>
          </a:blipFill>
        </p:spPr>
      </p:sp>
      <p:sp>
        <p:nvSpPr>
          <p:cNvPr id="5" name="Freeform 5"/>
          <p:cNvSpPr/>
          <p:nvPr/>
        </p:nvSpPr>
        <p:spPr>
          <a:xfrm>
            <a:off x="578499" y="674602"/>
            <a:ext cx="1854575" cy="1155258"/>
          </a:xfrm>
          <a:custGeom>
            <a:avLst/>
            <a:gdLst/>
            <a:ahLst/>
            <a:cxnLst/>
            <a:rect l="l" t="t" r="r" b="b"/>
            <a:pathLst>
              <a:path w="1854575" h="1155258">
                <a:moveTo>
                  <a:pt x="0" y="0"/>
                </a:moveTo>
                <a:lnTo>
                  <a:pt x="1854575" y="0"/>
                </a:lnTo>
                <a:lnTo>
                  <a:pt x="1854575" y="1155258"/>
                </a:lnTo>
                <a:lnTo>
                  <a:pt x="0" y="1155258"/>
                </a:lnTo>
                <a:lnTo>
                  <a:pt x="0" y="0"/>
                </a:lnTo>
                <a:close/>
              </a:path>
            </a:pathLst>
          </a:custGeom>
          <a:blipFill>
            <a:blip r:embed="rId5"/>
            <a:stretch>
              <a:fillRect/>
            </a:stretch>
          </a:blipFill>
          <a:ln cap="sq">
            <a:noFill/>
            <a:prstDash val="solid"/>
            <a:miter/>
          </a:ln>
        </p:spPr>
      </p:sp>
      <p:sp>
        <p:nvSpPr>
          <p:cNvPr id="9" name="TextBox 9"/>
          <p:cNvSpPr txBox="1"/>
          <p:nvPr/>
        </p:nvSpPr>
        <p:spPr>
          <a:xfrm>
            <a:off x="16666900" y="9794298"/>
            <a:ext cx="1621100" cy="333608"/>
          </a:xfrm>
          <a:prstGeom prst="rect">
            <a:avLst/>
          </a:prstGeom>
        </p:spPr>
        <p:txBody>
          <a:bodyPr lIns="0" tIns="0" rIns="0" bIns="0" rtlCol="0" anchor="t">
            <a:spAutoFit/>
          </a:bodyPr>
          <a:lstStyle/>
          <a:p>
            <a:pPr algn="l">
              <a:lnSpc>
                <a:spcPts val="2610"/>
              </a:lnSpc>
            </a:pPr>
            <a:r>
              <a:rPr lang="en-US" sz="1865" b="1">
                <a:solidFill>
                  <a:srgbClr val="F4E9EC"/>
                </a:solidFill>
                <a:latin typeface="Poppins Semi-Bold"/>
                <a:ea typeface="Poppins Semi-Bold"/>
                <a:cs typeface="Poppins Semi-Bold"/>
                <a:sym typeface="Poppins Semi-Bold"/>
              </a:rPr>
              <a:t>Page 02</a:t>
            </a:r>
          </a:p>
        </p:txBody>
      </p:sp>
      <p:sp>
        <p:nvSpPr>
          <p:cNvPr id="11" name="TextBox 11"/>
          <p:cNvSpPr txBox="1"/>
          <p:nvPr/>
        </p:nvSpPr>
        <p:spPr>
          <a:xfrm>
            <a:off x="3605773" y="9794298"/>
            <a:ext cx="10491193" cy="333608"/>
          </a:xfrm>
          <a:prstGeom prst="rect">
            <a:avLst/>
          </a:prstGeom>
        </p:spPr>
        <p:txBody>
          <a:bodyPr lIns="0" tIns="0" rIns="0" bIns="0" rtlCol="0" anchor="t">
            <a:spAutoFit/>
          </a:bodyPr>
          <a:lstStyle/>
          <a:p>
            <a:pPr algn="ctr">
              <a:lnSpc>
                <a:spcPts val="2610"/>
              </a:lnSpc>
              <a:spcBef>
                <a:spcPct val="0"/>
              </a:spcBef>
            </a:pPr>
            <a:r>
              <a:rPr lang="en-US" sz="1865" b="1">
                <a:solidFill>
                  <a:srgbClr val="F4E9EC"/>
                </a:solidFill>
                <a:latin typeface="Poppins Semi-Bold"/>
                <a:ea typeface="Poppins Semi-Bold"/>
                <a:cs typeface="Poppins Semi-Bold"/>
                <a:sym typeface="Poppins Semi-Bold"/>
              </a:rPr>
              <a:t>Sri Indu College of Engg &amp; Tech - Cyber Club, Department of Cyber Security</a:t>
            </a:r>
          </a:p>
        </p:txBody>
      </p:sp>
      <p:sp>
        <p:nvSpPr>
          <p:cNvPr id="12" name="TextBox 12"/>
          <p:cNvSpPr txBox="1"/>
          <p:nvPr/>
        </p:nvSpPr>
        <p:spPr>
          <a:xfrm>
            <a:off x="793673" y="882423"/>
            <a:ext cx="1424228" cy="343535"/>
          </a:xfrm>
          <a:prstGeom prst="rect">
            <a:avLst/>
          </a:prstGeom>
        </p:spPr>
        <p:txBody>
          <a:bodyPr lIns="0" tIns="0" rIns="0" bIns="0" rtlCol="0" anchor="t">
            <a:spAutoFit/>
          </a:bodyPr>
          <a:lstStyle/>
          <a:p>
            <a:pPr algn="ctr">
              <a:lnSpc>
                <a:spcPts val="2705"/>
              </a:lnSpc>
            </a:pPr>
            <a:r>
              <a:rPr lang="en-AU" altLang="en-US" sz="1935" b="1">
                <a:solidFill>
                  <a:srgbClr val="000000"/>
                </a:solidFill>
                <a:latin typeface="Times New Roman Bold"/>
                <a:ea typeface="Times New Roman Bold"/>
                <a:cs typeface="Times New Roman Bold"/>
                <a:sym typeface="Times New Roman Bold"/>
              </a:rPr>
              <a:t>Cyber2</a:t>
            </a:r>
          </a:p>
        </p:txBody>
      </p:sp>
      <p:sp>
        <p:nvSpPr>
          <p:cNvPr id="15" name="TextBox 10"/>
          <p:cNvSpPr txBox="1"/>
          <p:nvPr/>
        </p:nvSpPr>
        <p:spPr>
          <a:xfrm>
            <a:off x="4001950" y="511175"/>
            <a:ext cx="11326102" cy="1825821"/>
          </a:xfrm>
          <a:prstGeom prst="rect">
            <a:avLst/>
          </a:prstGeom>
        </p:spPr>
        <p:txBody>
          <a:bodyPr wrap="square" lIns="0" tIns="0" rIns="0" bIns="0" rtlCol="0" anchor="t">
            <a:spAutoFit/>
          </a:bodyPr>
          <a:lstStyle/>
          <a:p>
            <a:pPr algn="ctr">
              <a:lnSpc>
                <a:spcPts val="7615"/>
              </a:lnSpc>
              <a:spcBef>
                <a:spcPct val="0"/>
              </a:spcBef>
            </a:pPr>
            <a:r>
              <a:rPr lang="en-US" sz="4000" b="1" dirty="0">
                <a:solidFill>
                  <a:srgbClr val="000000"/>
                </a:solidFill>
                <a:latin typeface="Times New Roman Bold"/>
                <a:ea typeface="Times New Roman Bold"/>
                <a:cs typeface="Times New Roman Bold"/>
                <a:sym typeface="Times New Roman Bold"/>
              </a:rPr>
              <a:t>AI-POWERED FACE RECOGNITION ATTENDENCE SYSTEM</a:t>
            </a:r>
          </a:p>
        </p:txBody>
      </p:sp>
      <p:sp>
        <p:nvSpPr>
          <p:cNvPr id="16" name="TextBox 13"/>
          <p:cNvSpPr txBox="1"/>
          <p:nvPr/>
        </p:nvSpPr>
        <p:spPr>
          <a:xfrm>
            <a:off x="2603286" y="2555020"/>
            <a:ext cx="12496165" cy="687070"/>
          </a:xfrm>
          <a:prstGeom prst="rect">
            <a:avLst/>
          </a:prstGeom>
        </p:spPr>
        <p:txBody>
          <a:bodyPr lIns="0" tIns="0" rIns="0" bIns="0" rtlCol="0" anchor="t">
            <a:spAutoFit/>
          </a:bodyPr>
          <a:lstStyle/>
          <a:p>
            <a:pPr algn="ctr">
              <a:lnSpc>
                <a:spcPts val="5410"/>
              </a:lnSpc>
              <a:spcBef>
                <a:spcPct val="0"/>
              </a:spcBef>
            </a:pPr>
            <a:r>
              <a:rPr lang="en-US" sz="3865" b="1" dirty="0">
                <a:solidFill>
                  <a:srgbClr val="000000"/>
                </a:solidFill>
                <a:latin typeface="Times New Roman Bold"/>
                <a:ea typeface="Times New Roman Bold"/>
                <a:cs typeface="Times New Roman Bold"/>
                <a:sym typeface="Times New Roman Bold"/>
              </a:rPr>
              <a:t>Proposed Solution</a:t>
            </a:r>
            <a:r>
              <a:rPr lang="en-AU" altLang="en-US" sz="3865" b="1" dirty="0">
                <a:solidFill>
                  <a:srgbClr val="000000"/>
                </a:solidFill>
                <a:latin typeface="Times New Roman Bold"/>
                <a:ea typeface="Times New Roman Bold"/>
                <a:cs typeface="Times New Roman Bold"/>
                <a:sym typeface="Times New Roman Bold"/>
              </a:rPr>
              <a:t>:</a:t>
            </a:r>
          </a:p>
        </p:txBody>
      </p:sp>
      <p:grpSp>
        <p:nvGrpSpPr>
          <p:cNvPr id="17" name="Group 6"/>
          <p:cNvGrpSpPr/>
          <p:nvPr/>
        </p:nvGrpSpPr>
        <p:grpSpPr>
          <a:xfrm>
            <a:off x="3246120" y="1466850"/>
            <a:ext cx="589915" cy="561975"/>
            <a:chOff x="0" y="0"/>
            <a:chExt cx="812800" cy="774700"/>
          </a:xfrm>
        </p:grpSpPr>
        <p:sp>
          <p:nvSpPr>
            <p:cNvPr id="18" name="Freeform 7"/>
            <p:cNvSpPr/>
            <p:nvPr/>
          </p:nvSpPr>
          <p:spPr>
            <a:xfrm>
              <a:off x="0" y="0"/>
              <a:ext cx="812800" cy="774700"/>
            </a:xfrm>
            <a:custGeom>
              <a:avLst/>
              <a:gdLst/>
              <a:ahLst/>
              <a:cxnLst/>
              <a:rect l="l" t="t" r="r" b="b"/>
              <a:pathLst>
                <a:path w="812800" h="7747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070404"/>
            </a:solidFill>
          </p:spPr>
        </p:sp>
        <p:sp>
          <p:nvSpPr>
            <p:cNvPr id="19" name="TextBox 8"/>
            <p:cNvSpPr txBox="1"/>
            <p:nvPr/>
          </p:nvSpPr>
          <p:spPr>
            <a:xfrm>
              <a:off x="228600" y="209550"/>
              <a:ext cx="355600" cy="400050"/>
            </a:xfrm>
            <a:prstGeom prst="rect">
              <a:avLst/>
            </a:prstGeom>
          </p:spPr>
          <p:txBody>
            <a:bodyPr lIns="50800" tIns="50800" rIns="50800" bIns="50800" rtlCol="0" anchor="ctr"/>
            <a:lstStyle/>
            <a:p>
              <a:pPr algn="ctr">
                <a:lnSpc>
                  <a:spcPts val="2610"/>
                </a:lnSpc>
              </a:pPr>
              <a:endParaRPr/>
            </a:p>
          </p:txBody>
        </p:sp>
      </p:grpSp>
      <p:sp>
        <p:nvSpPr>
          <p:cNvPr id="22" name="TextBox 14"/>
          <p:cNvSpPr txBox="1"/>
          <p:nvPr/>
        </p:nvSpPr>
        <p:spPr>
          <a:xfrm>
            <a:off x="578485" y="3460115"/>
            <a:ext cx="16944340" cy="4800600"/>
          </a:xfrm>
          <a:prstGeom prst="rect">
            <a:avLst/>
          </a:prstGeom>
        </p:spPr>
        <p:txBody>
          <a:bodyPr lIns="0" tIns="0" rIns="0" bIns="0" rtlCol="0" anchor="t">
            <a:spAutoFit/>
          </a:bodyPr>
          <a:lstStyle/>
          <a:p>
            <a:pPr algn="l">
              <a:lnSpc>
                <a:spcPts val="6300"/>
              </a:lnSpc>
            </a:pPr>
            <a:r>
              <a:rPr lang="en-US" sz="2800">
                <a:solidFill>
                  <a:srgbClr val="000000"/>
                </a:solidFill>
                <a:latin typeface="Times New Roman"/>
                <a:ea typeface="Times New Roman"/>
                <a:cs typeface="Times New Roman"/>
                <a:sym typeface="Times New Roman"/>
              </a:rPr>
              <a:t>The sophisticated attendance system utilizes facial recognition technology to automate attendance logging, replacing traditional methods like time cards with a faster, more efficient process that minimizes errors and fraud. Key features include liveness detection to ensure only real individuals are recorded, real-time processing for immediate updates to attendance records, and user data management that adapts to new users, enhancing performance over time. Additionally, the system leverages machine learning to continuously improve its accuracy and efficiency as it processes more data, making it a modern, secure, and user-friendly solution for attendance management.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5723"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IN" dirty="0"/>
          </a:p>
        </p:txBody>
      </p:sp>
      <p:sp>
        <p:nvSpPr>
          <p:cNvPr id="3" name="Freeform 3"/>
          <p:cNvSpPr/>
          <p:nvPr/>
        </p:nvSpPr>
        <p:spPr>
          <a:xfrm>
            <a:off x="15910982" y="463512"/>
            <a:ext cx="2113659" cy="1009272"/>
          </a:xfrm>
          <a:custGeom>
            <a:avLst/>
            <a:gdLst/>
            <a:ahLst/>
            <a:cxnLst/>
            <a:rect l="l" t="t" r="r" b="b"/>
            <a:pathLst>
              <a:path w="2113659" h="1009272">
                <a:moveTo>
                  <a:pt x="0" y="0"/>
                </a:moveTo>
                <a:lnTo>
                  <a:pt x="2113659" y="0"/>
                </a:lnTo>
                <a:lnTo>
                  <a:pt x="2113659" y="1009272"/>
                </a:lnTo>
                <a:lnTo>
                  <a:pt x="0" y="1009272"/>
                </a:lnTo>
                <a:lnTo>
                  <a:pt x="0" y="0"/>
                </a:lnTo>
                <a:close/>
              </a:path>
            </a:pathLst>
          </a:custGeom>
          <a:blipFill>
            <a:blip r:embed="rId3"/>
            <a:stretch>
              <a:fillRect/>
            </a:stretch>
          </a:blipFill>
        </p:spPr>
      </p:sp>
      <p:sp>
        <p:nvSpPr>
          <p:cNvPr id="4" name="Freeform 4"/>
          <p:cNvSpPr/>
          <p:nvPr/>
        </p:nvSpPr>
        <p:spPr>
          <a:xfrm>
            <a:off x="45723" y="9692353"/>
            <a:ext cx="18242277" cy="594647"/>
          </a:xfrm>
          <a:custGeom>
            <a:avLst/>
            <a:gdLst/>
            <a:ahLst/>
            <a:cxnLst/>
            <a:rect l="l" t="t" r="r" b="b"/>
            <a:pathLst>
              <a:path w="18242277" h="594647">
                <a:moveTo>
                  <a:pt x="0" y="0"/>
                </a:moveTo>
                <a:lnTo>
                  <a:pt x="18242277" y="0"/>
                </a:lnTo>
                <a:lnTo>
                  <a:pt x="18242277" y="594647"/>
                </a:lnTo>
                <a:lnTo>
                  <a:pt x="0" y="594647"/>
                </a:lnTo>
                <a:lnTo>
                  <a:pt x="0" y="0"/>
                </a:lnTo>
                <a:close/>
              </a:path>
            </a:pathLst>
          </a:custGeom>
          <a:blipFill>
            <a:blip r:embed="rId4"/>
            <a:stretch>
              <a:fillRect b="-34214"/>
            </a:stretch>
          </a:blipFill>
        </p:spPr>
      </p:sp>
      <p:sp>
        <p:nvSpPr>
          <p:cNvPr id="5" name="Freeform 5"/>
          <p:cNvSpPr/>
          <p:nvPr/>
        </p:nvSpPr>
        <p:spPr>
          <a:xfrm>
            <a:off x="578499" y="674602"/>
            <a:ext cx="1854575" cy="1155258"/>
          </a:xfrm>
          <a:custGeom>
            <a:avLst/>
            <a:gdLst/>
            <a:ahLst/>
            <a:cxnLst/>
            <a:rect l="l" t="t" r="r" b="b"/>
            <a:pathLst>
              <a:path w="1854575" h="1155258">
                <a:moveTo>
                  <a:pt x="0" y="0"/>
                </a:moveTo>
                <a:lnTo>
                  <a:pt x="1854575" y="0"/>
                </a:lnTo>
                <a:lnTo>
                  <a:pt x="1854575" y="1155258"/>
                </a:lnTo>
                <a:lnTo>
                  <a:pt x="0" y="1155258"/>
                </a:lnTo>
                <a:lnTo>
                  <a:pt x="0" y="0"/>
                </a:lnTo>
                <a:close/>
              </a:path>
            </a:pathLst>
          </a:custGeom>
          <a:blipFill>
            <a:blip r:embed="rId5"/>
            <a:stretch>
              <a:fillRect/>
            </a:stretch>
          </a:blipFill>
          <a:ln cap="sq">
            <a:noFill/>
            <a:prstDash val="solid"/>
            <a:miter/>
          </a:ln>
        </p:spPr>
      </p:sp>
      <p:sp>
        <p:nvSpPr>
          <p:cNvPr id="6" name="TextBox 6"/>
          <p:cNvSpPr txBox="1"/>
          <p:nvPr/>
        </p:nvSpPr>
        <p:spPr>
          <a:xfrm>
            <a:off x="16666900" y="9794298"/>
            <a:ext cx="1621100" cy="333608"/>
          </a:xfrm>
          <a:prstGeom prst="rect">
            <a:avLst/>
          </a:prstGeom>
        </p:spPr>
        <p:txBody>
          <a:bodyPr lIns="0" tIns="0" rIns="0" bIns="0" rtlCol="0" anchor="t">
            <a:spAutoFit/>
          </a:bodyPr>
          <a:lstStyle/>
          <a:p>
            <a:pPr algn="l">
              <a:lnSpc>
                <a:spcPts val="2610"/>
              </a:lnSpc>
            </a:pPr>
            <a:r>
              <a:rPr lang="en-US" sz="1865" b="1">
                <a:solidFill>
                  <a:srgbClr val="F4E9EC"/>
                </a:solidFill>
                <a:latin typeface="Poppins Semi-Bold"/>
                <a:ea typeface="Poppins Semi-Bold"/>
                <a:cs typeface="Poppins Semi-Bold"/>
                <a:sym typeface="Poppins Semi-Bold"/>
              </a:rPr>
              <a:t>Page 03</a:t>
            </a:r>
          </a:p>
        </p:txBody>
      </p:sp>
      <p:sp>
        <p:nvSpPr>
          <p:cNvPr id="8" name="TextBox 8"/>
          <p:cNvSpPr txBox="1"/>
          <p:nvPr/>
        </p:nvSpPr>
        <p:spPr>
          <a:xfrm>
            <a:off x="3164261" y="9794298"/>
            <a:ext cx="10783824" cy="333608"/>
          </a:xfrm>
          <a:prstGeom prst="rect">
            <a:avLst/>
          </a:prstGeom>
        </p:spPr>
        <p:txBody>
          <a:bodyPr lIns="0" tIns="0" rIns="0" bIns="0" rtlCol="0" anchor="t">
            <a:spAutoFit/>
          </a:bodyPr>
          <a:lstStyle/>
          <a:p>
            <a:pPr algn="ctr">
              <a:lnSpc>
                <a:spcPts val="2610"/>
              </a:lnSpc>
              <a:spcBef>
                <a:spcPct val="0"/>
              </a:spcBef>
            </a:pPr>
            <a:r>
              <a:rPr lang="en-US" sz="1865" b="1" dirty="0">
                <a:solidFill>
                  <a:srgbClr val="F4E9EC"/>
                </a:solidFill>
                <a:latin typeface="Poppins Semi-Bold"/>
                <a:ea typeface="Poppins Semi-Bold"/>
                <a:cs typeface="Poppins Semi-Bold"/>
                <a:sym typeface="Poppins Semi-Bold"/>
              </a:rPr>
              <a:t>Sri Indu College of </a:t>
            </a:r>
            <a:r>
              <a:rPr lang="en-US" sz="1865" b="1" dirty="0" err="1">
                <a:solidFill>
                  <a:srgbClr val="F4E9EC"/>
                </a:solidFill>
                <a:latin typeface="Poppins Semi-Bold"/>
                <a:ea typeface="Poppins Semi-Bold"/>
                <a:cs typeface="Poppins Semi-Bold"/>
                <a:sym typeface="Poppins Semi-Bold"/>
              </a:rPr>
              <a:t>Engg</a:t>
            </a:r>
            <a:r>
              <a:rPr lang="en-US" sz="1865" b="1" dirty="0">
                <a:solidFill>
                  <a:srgbClr val="F4E9EC"/>
                </a:solidFill>
                <a:latin typeface="Poppins Semi-Bold"/>
                <a:ea typeface="Poppins Semi-Bold"/>
                <a:cs typeface="Poppins Semi-Bold"/>
                <a:sym typeface="Poppins Semi-Bold"/>
              </a:rPr>
              <a:t> &amp; Tech - Cyber Club, Department of Cyber Security</a:t>
            </a:r>
          </a:p>
        </p:txBody>
      </p:sp>
      <p:sp>
        <p:nvSpPr>
          <p:cNvPr id="9" name="TextBox 9"/>
          <p:cNvSpPr txBox="1"/>
          <p:nvPr/>
        </p:nvSpPr>
        <p:spPr>
          <a:xfrm>
            <a:off x="793673" y="882423"/>
            <a:ext cx="1424228" cy="343535"/>
          </a:xfrm>
          <a:prstGeom prst="rect">
            <a:avLst/>
          </a:prstGeom>
        </p:spPr>
        <p:txBody>
          <a:bodyPr lIns="0" tIns="0" rIns="0" bIns="0" rtlCol="0" anchor="t">
            <a:spAutoFit/>
          </a:bodyPr>
          <a:lstStyle/>
          <a:p>
            <a:pPr algn="ctr">
              <a:lnSpc>
                <a:spcPts val="2705"/>
              </a:lnSpc>
            </a:pPr>
            <a:r>
              <a:rPr lang="en-AU" altLang="en-US" sz="1935" b="1" dirty="0">
                <a:solidFill>
                  <a:srgbClr val="000000"/>
                </a:solidFill>
                <a:latin typeface="Times New Roman Bold"/>
                <a:ea typeface="Times New Roman Bold"/>
                <a:cs typeface="Times New Roman Bold"/>
                <a:sym typeface="Times New Roman Bold"/>
              </a:rPr>
              <a:t>Cyber2</a:t>
            </a:r>
          </a:p>
        </p:txBody>
      </p:sp>
      <p:sp>
        <p:nvSpPr>
          <p:cNvPr id="12" name="TextBox 7"/>
          <p:cNvSpPr txBox="1"/>
          <p:nvPr/>
        </p:nvSpPr>
        <p:spPr>
          <a:xfrm>
            <a:off x="4424361" y="882423"/>
            <a:ext cx="9227185" cy="1071880"/>
          </a:xfrm>
          <a:prstGeom prst="rect">
            <a:avLst/>
          </a:prstGeom>
        </p:spPr>
        <p:txBody>
          <a:bodyPr lIns="0" tIns="0" rIns="0" bIns="0" rtlCol="0" anchor="t">
            <a:spAutoFit/>
          </a:bodyPr>
          <a:lstStyle/>
          <a:p>
            <a:pPr algn="ctr">
              <a:lnSpc>
                <a:spcPts val="7920"/>
              </a:lnSpc>
              <a:spcBef>
                <a:spcPct val="0"/>
              </a:spcBef>
            </a:pPr>
            <a:r>
              <a:rPr lang="en-US" sz="5655" b="1" dirty="0">
                <a:solidFill>
                  <a:srgbClr val="000000"/>
                </a:solidFill>
                <a:latin typeface="Times New Roman Bold"/>
                <a:ea typeface="Times New Roman Bold"/>
                <a:cs typeface="Times New Roman Bold"/>
                <a:sym typeface="Times New Roman Bold"/>
              </a:rPr>
              <a:t>TECHNICAL APPROACH</a:t>
            </a:r>
          </a:p>
        </p:txBody>
      </p:sp>
      <p:sp>
        <p:nvSpPr>
          <p:cNvPr id="14" name="TextBox 10"/>
          <p:cNvSpPr txBox="1"/>
          <p:nvPr/>
        </p:nvSpPr>
        <p:spPr>
          <a:xfrm>
            <a:off x="2162811" y="2179100"/>
            <a:ext cx="14668500" cy="7164012"/>
          </a:xfrm>
          <a:prstGeom prst="rect">
            <a:avLst/>
          </a:prstGeom>
        </p:spPr>
        <p:txBody>
          <a:bodyPr lIns="0" tIns="0" rIns="0" bIns="0" rtlCol="0" anchor="t">
            <a:spAutoFit/>
          </a:bodyPr>
          <a:lstStyle/>
          <a:p>
            <a:pPr algn="l">
              <a:lnSpc>
                <a:spcPts val="6300"/>
              </a:lnSpc>
            </a:pPr>
            <a:r>
              <a:rPr sz="2800" dirty="0"/>
              <a:t>Key programming language include Python, known for its machine learning capabilities with libraries</a:t>
            </a:r>
            <a:r>
              <a:rPr lang="en-US" sz="2800" dirty="0"/>
              <a:t> </a:t>
            </a:r>
            <a:r>
              <a:rPr sz="2800" dirty="0"/>
              <a:t>like </a:t>
            </a:r>
            <a:r>
              <a:rPr lang="en-US" sz="2800" dirty="0"/>
              <a:t>:</a:t>
            </a:r>
          </a:p>
          <a:p>
            <a:pPr marL="457200" indent="-457200" algn="l">
              <a:lnSpc>
                <a:spcPts val="6300"/>
              </a:lnSpc>
              <a:buFont typeface="Arial" panose="020B0604020202020204" pitchFamily="34" charset="0"/>
              <a:buChar char="•"/>
            </a:pPr>
            <a:r>
              <a:rPr sz="2800" dirty="0"/>
              <a:t>OpenCV</a:t>
            </a:r>
            <a:endParaRPr lang="en-US" sz="2800" dirty="0"/>
          </a:p>
          <a:p>
            <a:pPr marL="457200" indent="-457200" algn="l">
              <a:lnSpc>
                <a:spcPts val="6300"/>
              </a:lnSpc>
              <a:buFont typeface="Arial" panose="020B0604020202020204" pitchFamily="34" charset="0"/>
              <a:buChar char="•"/>
            </a:pPr>
            <a:r>
              <a:rPr lang="en-IN" sz="2800" dirty="0"/>
              <a:t>Tk-tools</a:t>
            </a:r>
          </a:p>
          <a:p>
            <a:pPr marL="457200" indent="-457200" algn="l">
              <a:lnSpc>
                <a:spcPts val="6300"/>
              </a:lnSpc>
              <a:buFont typeface="Arial" panose="020B0604020202020204" pitchFamily="34" charset="0"/>
              <a:buChar char="•"/>
            </a:pPr>
            <a:r>
              <a:rPr lang="en-IN" sz="2800" dirty="0"/>
              <a:t>Datetime</a:t>
            </a:r>
          </a:p>
          <a:p>
            <a:pPr marL="457200" indent="-457200" algn="l">
              <a:lnSpc>
                <a:spcPts val="6300"/>
              </a:lnSpc>
              <a:buFont typeface="Arial" panose="020B0604020202020204" pitchFamily="34" charset="0"/>
              <a:buChar char="•"/>
            </a:pPr>
            <a:r>
              <a:rPr lang="en-IN" sz="2800" dirty="0" err="1"/>
              <a:t>Numpy</a:t>
            </a:r>
            <a:endParaRPr lang="en-IN" sz="2800" dirty="0"/>
          </a:p>
          <a:p>
            <a:pPr marL="457200" indent="-457200" algn="l">
              <a:lnSpc>
                <a:spcPts val="6300"/>
              </a:lnSpc>
              <a:buFont typeface="Arial" panose="020B0604020202020204" pitchFamily="34" charset="0"/>
              <a:buChar char="•"/>
            </a:pPr>
            <a:r>
              <a:rPr lang="en-IN" sz="2800" dirty="0"/>
              <a:t>Pillow</a:t>
            </a:r>
          </a:p>
          <a:p>
            <a:pPr marL="457200" indent="-457200" algn="l">
              <a:lnSpc>
                <a:spcPts val="6300"/>
              </a:lnSpc>
              <a:buFont typeface="Arial" panose="020B0604020202020204" pitchFamily="34" charset="0"/>
              <a:buChar char="•"/>
            </a:pPr>
            <a:r>
              <a:rPr lang="en-IN" sz="2800" dirty="0"/>
              <a:t>Pandas</a:t>
            </a:r>
          </a:p>
          <a:p>
            <a:pPr marL="457200" indent="-457200" algn="l">
              <a:lnSpc>
                <a:spcPts val="6300"/>
              </a:lnSpc>
              <a:buFont typeface="Arial" panose="020B0604020202020204" pitchFamily="34" charset="0"/>
              <a:buChar char="•"/>
            </a:pPr>
            <a:r>
              <a:rPr lang="en-IN" sz="2800" dirty="0"/>
              <a:t>Times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23F6009D-4777-7E2A-3C70-A569C68D0F11}"/>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IN" dirty="0"/>
          </a:p>
        </p:txBody>
      </p:sp>
      <p:sp>
        <p:nvSpPr>
          <p:cNvPr id="3" name="Freeform 5">
            <a:extLst>
              <a:ext uri="{FF2B5EF4-FFF2-40B4-BE49-F238E27FC236}">
                <a16:creationId xmlns:a16="http://schemas.microsoft.com/office/drawing/2014/main" id="{9119977C-195E-BE8C-C26D-EA432BB6129E}"/>
              </a:ext>
            </a:extLst>
          </p:cNvPr>
          <p:cNvSpPr/>
          <p:nvPr/>
        </p:nvSpPr>
        <p:spPr>
          <a:xfrm>
            <a:off x="578499" y="674602"/>
            <a:ext cx="1854575" cy="1155258"/>
          </a:xfrm>
          <a:custGeom>
            <a:avLst/>
            <a:gdLst/>
            <a:ahLst/>
            <a:cxnLst/>
            <a:rect l="l" t="t" r="r" b="b"/>
            <a:pathLst>
              <a:path w="1854575" h="1155258">
                <a:moveTo>
                  <a:pt x="0" y="0"/>
                </a:moveTo>
                <a:lnTo>
                  <a:pt x="1854575" y="0"/>
                </a:lnTo>
                <a:lnTo>
                  <a:pt x="1854575" y="1155258"/>
                </a:lnTo>
                <a:lnTo>
                  <a:pt x="0" y="1155258"/>
                </a:lnTo>
                <a:lnTo>
                  <a:pt x="0" y="0"/>
                </a:lnTo>
                <a:close/>
              </a:path>
            </a:pathLst>
          </a:custGeom>
          <a:blipFill>
            <a:blip r:embed="rId3"/>
            <a:stretch>
              <a:fillRect/>
            </a:stretch>
          </a:blipFill>
          <a:ln cap="sq">
            <a:noFill/>
            <a:prstDash val="solid"/>
            <a:miter/>
          </a:ln>
        </p:spPr>
        <p:txBody>
          <a:bodyPr/>
          <a:lstStyle/>
          <a:p>
            <a:endParaRPr lang="en-IN" dirty="0"/>
          </a:p>
        </p:txBody>
      </p:sp>
      <p:sp>
        <p:nvSpPr>
          <p:cNvPr id="4" name="TextBox 9">
            <a:extLst>
              <a:ext uri="{FF2B5EF4-FFF2-40B4-BE49-F238E27FC236}">
                <a16:creationId xmlns:a16="http://schemas.microsoft.com/office/drawing/2014/main" id="{C640A6AC-441F-5B6F-E4C0-A1E22ADE3BCB}"/>
              </a:ext>
            </a:extLst>
          </p:cNvPr>
          <p:cNvSpPr txBox="1"/>
          <p:nvPr/>
        </p:nvSpPr>
        <p:spPr>
          <a:xfrm>
            <a:off x="793673" y="882423"/>
            <a:ext cx="1424228" cy="343535"/>
          </a:xfrm>
          <a:prstGeom prst="rect">
            <a:avLst/>
          </a:prstGeom>
        </p:spPr>
        <p:txBody>
          <a:bodyPr lIns="0" tIns="0" rIns="0" bIns="0" rtlCol="0" anchor="t">
            <a:spAutoFit/>
          </a:bodyPr>
          <a:lstStyle/>
          <a:p>
            <a:pPr algn="ctr">
              <a:lnSpc>
                <a:spcPts val="2705"/>
              </a:lnSpc>
            </a:pPr>
            <a:r>
              <a:rPr lang="en-AU" altLang="en-US" sz="1935" b="1" dirty="0">
                <a:solidFill>
                  <a:srgbClr val="000000"/>
                </a:solidFill>
                <a:latin typeface="Times New Roman Bold"/>
                <a:ea typeface="Times New Roman Bold"/>
                <a:cs typeface="Times New Roman Bold"/>
                <a:sym typeface="Times New Roman Bold"/>
              </a:rPr>
              <a:t>Cyber2</a:t>
            </a:r>
          </a:p>
        </p:txBody>
      </p:sp>
      <p:sp>
        <p:nvSpPr>
          <p:cNvPr id="5" name="Freeform 3">
            <a:extLst>
              <a:ext uri="{FF2B5EF4-FFF2-40B4-BE49-F238E27FC236}">
                <a16:creationId xmlns:a16="http://schemas.microsoft.com/office/drawing/2014/main" id="{1437FDD3-EF55-97F8-9CAB-F59C2FF36F61}"/>
              </a:ext>
            </a:extLst>
          </p:cNvPr>
          <p:cNvSpPr/>
          <p:nvPr/>
        </p:nvSpPr>
        <p:spPr>
          <a:xfrm>
            <a:off x="15910982" y="463512"/>
            <a:ext cx="2113659" cy="1009272"/>
          </a:xfrm>
          <a:custGeom>
            <a:avLst/>
            <a:gdLst/>
            <a:ahLst/>
            <a:cxnLst/>
            <a:rect l="l" t="t" r="r" b="b"/>
            <a:pathLst>
              <a:path w="2113659" h="1009272">
                <a:moveTo>
                  <a:pt x="0" y="0"/>
                </a:moveTo>
                <a:lnTo>
                  <a:pt x="2113659" y="0"/>
                </a:lnTo>
                <a:lnTo>
                  <a:pt x="2113659" y="1009272"/>
                </a:lnTo>
                <a:lnTo>
                  <a:pt x="0" y="1009272"/>
                </a:lnTo>
                <a:lnTo>
                  <a:pt x="0" y="0"/>
                </a:lnTo>
                <a:close/>
              </a:path>
            </a:pathLst>
          </a:custGeom>
          <a:blipFill>
            <a:blip r:embed="rId4"/>
            <a:stretch>
              <a:fillRect/>
            </a:stretch>
          </a:blipFill>
        </p:spPr>
      </p:sp>
      <p:sp>
        <p:nvSpPr>
          <p:cNvPr id="6" name="Freeform 4">
            <a:extLst>
              <a:ext uri="{FF2B5EF4-FFF2-40B4-BE49-F238E27FC236}">
                <a16:creationId xmlns:a16="http://schemas.microsoft.com/office/drawing/2014/main" id="{0077755B-FA0F-E686-9113-EAD659B870C1}"/>
              </a:ext>
            </a:extLst>
          </p:cNvPr>
          <p:cNvSpPr/>
          <p:nvPr/>
        </p:nvSpPr>
        <p:spPr>
          <a:xfrm>
            <a:off x="45723" y="9692353"/>
            <a:ext cx="18242277" cy="594647"/>
          </a:xfrm>
          <a:custGeom>
            <a:avLst/>
            <a:gdLst/>
            <a:ahLst/>
            <a:cxnLst/>
            <a:rect l="l" t="t" r="r" b="b"/>
            <a:pathLst>
              <a:path w="18242277" h="594647">
                <a:moveTo>
                  <a:pt x="0" y="0"/>
                </a:moveTo>
                <a:lnTo>
                  <a:pt x="18242277" y="0"/>
                </a:lnTo>
                <a:lnTo>
                  <a:pt x="18242277" y="594647"/>
                </a:lnTo>
                <a:lnTo>
                  <a:pt x="0" y="594647"/>
                </a:lnTo>
                <a:lnTo>
                  <a:pt x="0" y="0"/>
                </a:lnTo>
                <a:close/>
              </a:path>
            </a:pathLst>
          </a:custGeom>
          <a:blipFill>
            <a:blip r:embed="rId5"/>
            <a:stretch>
              <a:fillRect b="-34214"/>
            </a:stretch>
          </a:blipFill>
        </p:spPr>
      </p:sp>
      <p:sp>
        <p:nvSpPr>
          <p:cNvPr id="7" name="TextBox 8">
            <a:extLst>
              <a:ext uri="{FF2B5EF4-FFF2-40B4-BE49-F238E27FC236}">
                <a16:creationId xmlns:a16="http://schemas.microsoft.com/office/drawing/2014/main" id="{46AC9DA8-2F4F-6B77-909D-E86C439FB6BF}"/>
              </a:ext>
            </a:extLst>
          </p:cNvPr>
          <p:cNvSpPr txBox="1"/>
          <p:nvPr/>
        </p:nvSpPr>
        <p:spPr>
          <a:xfrm>
            <a:off x="3164261" y="9794298"/>
            <a:ext cx="10783824" cy="333608"/>
          </a:xfrm>
          <a:prstGeom prst="rect">
            <a:avLst/>
          </a:prstGeom>
        </p:spPr>
        <p:txBody>
          <a:bodyPr lIns="0" tIns="0" rIns="0" bIns="0" rtlCol="0" anchor="t">
            <a:spAutoFit/>
          </a:bodyPr>
          <a:lstStyle/>
          <a:p>
            <a:pPr algn="ctr">
              <a:lnSpc>
                <a:spcPts val="2610"/>
              </a:lnSpc>
              <a:spcBef>
                <a:spcPct val="0"/>
              </a:spcBef>
            </a:pPr>
            <a:r>
              <a:rPr lang="en-US" sz="1865" b="1" dirty="0">
                <a:solidFill>
                  <a:srgbClr val="F4E9EC"/>
                </a:solidFill>
                <a:latin typeface="Poppins Semi-Bold"/>
                <a:ea typeface="Poppins Semi-Bold"/>
                <a:cs typeface="Poppins Semi-Bold"/>
                <a:sym typeface="Poppins Semi-Bold"/>
              </a:rPr>
              <a:t>Sri Indu College of </a:t>
            </a:r>
            <a:r>
              <a:rPr lang="en-US" sz="1865" b="1" dirty="0" err="1">
                <a:solidFill>
                  <a:srgbClr val="F4E9EC"/>
                </a:solidFill>
                <a:latin typeface="Poppins Semi-Bold"/>
                <a:ea typeface="Poppins Semi-Bold"/>
                <a:cs typeface="Poppins Semi-Bold"/>
                <a:sym typeface="Poppins Semi-Bold"/>
              </a:rPr>
              <a:t>Engg</a:t>
            </a:r>
            <a:r>
              <a:rPr lang="en-US" sz="1865" b="1" dirty="0">
                <a:solidFill>
                  <a:srgbClr val="F4E9EC"/>
                </a:solidFill>
                <a:latin typeface="Poppins Semi-Bold"/>
                <a:ea typeface="Poppins Semi-Bold"/>
                <a:cs typeface="Poppins Semi-Bold"/>
                <a:sym typeface="Poppins Semi-Bold"/>
              </a:rPr>
              <a:t> &amp; Tech - Cyber Club, Department of Cyber Security</a:t>
            </a:r>
          </a:p>
        </p:txBody>
      </p:sp>
      <p:pic>
        <p:nvPicPr>
          <p:cNvPr id="9" name="Picture 8">
            <a:extLst>
              <a:ext uri="{FF2B5EF4-FFF2-40B4-BE49-F238E27FC236}">
                <a16:creationId xmlns:a16="http://schemas.microsoft.com/office/drawing/2014/main" id="{4085EBA9-5E19-14C7-73D7-005F4CCA14A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953000" y="159094"/>
            <a:ext cx="7778013" cy="9198917"/>
          </a:xfrm>
          <a:prstGeom prst="rect">
            <a:avLst/>
          </a:prstGeom>
        </p:spPr>
      </p:pic>
    </p:spTree>
    <p:extLst>
      <p:ext uri="{BB962C8B-B14F-4D97-AF65-F5344CB8AC3E}">
        <p14:creationId xmlns:p14="http://schemas.microsoft.com/office/powerpoint/2010/main" val="12574278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 name="Freeform 3"/>
          <p:cNvSpPr/>
          <p:nvPr/>
        </p:nvSpPr>
        <p:spPr>
          <a:xfrm>
            <a:off x="15910982" y="463512"/>
            <a:ext cx="2113659" cy="1009272"/>
          </a:xfrm>
          <a:custGeom>
            <a:avLst/>
            <a:gdLst/>
            <a:ahLst/>
            <a:cxnLst/>
            <a:rect l="l" t="t" r="r" b="b"/>
            <a:pathLst>
              <a:path w="2113659" h="1009272">
                <a:moveTo>
                  <a:pt x="0" y="0"/>
                </a:moveTo>
                <a:lnTo>
                  <a:pt x="2113659" y="0"/>
                </a:lnTo>
                <a:lnTo>
                  <a:pt x="2113659" y="1009272"/>
                </a:lnTo>
                <a:lnTo>
                  <a:pt x="0" y="1009272"/>
                </a:lnTo>
                <a:lnTo>
                  <a:pt x="0" y="0"/>
                </a:lnTo>
                <a:close/>
              </a:path>
            </a:pathLst>
          </a:custGeom>
          <a:blipFill>
            <a:blip r:embed="rId3"/>
            <a:stretch>
              <a:fillRect/>
            </a:stretch>
          </a:blipFill>
        </p:spPr>
      </p:sp>
      <p:sp>
        <p:nvSpPr>
          <p:cNvPr id="4" name="Freeform 4"/>
          <p:cNvSpPr/>
          <p:nvPr/>
        </p:nvSpPr>
        <p:spPr>
          <a:xfrm>
            <a:off x="45723" y="9692353"/>
            <a:ext cx="18242277" cy="594647"/>
          </a:xfrm>
          <a:custGeom>
            <a:avLst/>
            <a:gdLst/>
            <a:ahLst/>
            <a:cxnLst/>
            <a:rect l="l" t="t" r="r" b="b"/>
            <a:pathLst>
              <a:path w="18242277" h="594647">
                <a:moveTo>
                  <a:pt x="0" y="0"/>
                </a:moveTo>
                <a:lnTo>
                  <a:pt x="18242277" y="0"/>
                </a:lnTo>
                <a:lnTo>
                  <a:pt x="18242277" y="594647"/>
                </a:lnTo>
                <a:lnTo>
                  <a:pt x="0" y="594647"/>
                </a:lnTo>
                <a:lnTo>
                  <a:pt x="0" y="0"/>
                </a:lnTo>
                <a:close/>
              </a:path>
            </a:pathLst>
          </a:custGeom>
          <a:blipFill>
            <a:blip r:embed="rId4"/>
            <a:stretch>
              <a:fillRect b="-34214"/>
            </a:stretch>
          </a:blipFill>
        </p:spPr>
      </p:sp>
      <p:sp>
        <p:nvSpPr>
          <p:cNvPr id="5" name="Freeform 5"/>
          <p:cNvSpPr/>
          <p:nvPr/>
        </p:nvSpPr>
        <p:spPr>
          <a:xfrm>
            <a:off x="578499" y="674602"/>
            <a:ext cx="1854575" cy="1155258"/>
          </a:xfrm>
          <a:custGeom>
            <a:avLst/>
            <a:gdLst/>
            <a:ahLst/>
            <a:cxnLst/>
            <a:rect l="l" t="t" r="r" b="b"/>
            <a:pathLst>
              <a:path w="1854575" h="1155258">
                <a:moveTo>
                  <a:pt x="0" y="0"/>
                </a:moveTo>
                <a:lnTo>
                  <a:pt x="1854575" y="0"/>
                </a:lnTo>
                <a:lnTo>
                  <a:pt x="1854575" y="1155258"/>
                </a:lnTo>
                <a:lnTo>
                  <a:pt x="0" y="1155258"/>
                </a:lnTo>
                <a:lnTo>
                  <a:pt x="0" y="0"/>
                </a:lnTo>
                <a:close/>
              </a:path>
            </a:pathLst>
          </a:custGeom>
          <a:blipFill>
            <a:blip r:embed="rId5"/>
            <a:stretch>
              <a:fillRect/>
            </a:stretch>
          </a:blipFill>
          <a:ln cap="sq">
            <a:noFill/>
            <a:prstDash val="solid"/>
            <a:miter/>
          </a:ln>
        </p:spPr>
      </p:sp>
      <p:sp>
        <p:nvSpPr>
          <p:cNvPr id="6" name="TextBox 6"/>
          <p:cNvSpPr txBox="1"/>
          <p:nvPr/>
        </p:nvSpPr>
        <p:spPr>
          <a:xfrm>
            <a:off x="16666900" y="9794298"/>
            <a:ext cx="1621100" cy="333608"/>
          </a:xfrm>
          <a:prstGeom prst="rect">
            <a:avLst/>
          </a:prstGeom>
        </p:spPr>
        <p:txBody>
          <a:bodyPr lIns="0" tIns="0" rIns="0" bIns="0" rtlCol="0" anchor="t">
            <a:spAutoFit/>
          </a:bodyPr>
          <a:lstStyle/>
          <a:p>
            <a:pPr algn="l">
              <a:lnSpc>
                <a:spcPts val="2610"/>
              </a:lnSpc>
            </a:pPr>
            <a:r>
              <a:rPr lang="en-US" sz="1865" b="1">
                <a:solidFill>
                  <a:srgbClr val="F4E9EC"/>
                </a:solidFill>
                <a:latin typeface="Poppins Semi-Bold"/>
                <a:ea typeface="Poppins Semi-Bold"/>
                <a:cs typeface="Poppins Semi-Bold"/>
                <a:sym typeface="Poppins Semi-Bold"/>
              </a:rPr>
              <a:t>Page 04</a:t>
            </a:r>
          </a:p>
        </p:txBody>
      </p:sp>
      <p:sp>
        <p:nvSpPr>
          <p:cNvPr id="7" name="TextBox 7"/>
          <p:cNvSpPr txBox="1"/>
          <p:nvPr/>
        </p:nvSpPr>
        <p:spPr>
          <a:xfrm>
            <a:off x="3876856" y="455527"/>
            <a:ext cx="10590345" cy="1039155"/>
          </a:xfrm>
          <a:prstGeom prst="rect">
            <a:avLst/>
          </a:prstGeom>
        </p:spPr>
        <p:txBody>
          <a:bodyPr lIns="0" tIns="0" rIns="0" bIns="0" rtlCol="0" anchor="t">
            <a:spAutoFit/>
          </a:bodyPr>
          <a:lstStyle/>
          <a:p>
            <a:pPr algn="ctr">
              <a:lnSpc>
                <a:spcPts val="7615"/>
              </a:lnSpc>
              <a:spcBef>
                <a:spcPct val="0"/>
              </a:spcBef>
            </a:pPr>
            <a:r>
              <a:rPr lang="en-US" sz="5440" b="1">
                <a:solidFill>
                  <a:srgbClr val="000000"/>
                </a:solidFill>
                <a:latin typeface="Times New Roman Bold"/>
                <a:ea typeface="Times New Roman Bold"/>
                <a:cs typeface="Times New Roman Bold"/>
                <a:sym typeface="Times New Roman Bold"/>
              </a:rPr>
              <a:t>FEASIBILITY AND VIABILITY</a:t>
            </a:r>
          </a:p>
        </p:txBody>
      </p:sp>
      <p:sp>
        <p:nvSpPr>
          <p:cNvPr id="8" name="TextBox 8"/>
          <p:cNvSpPr txBox="1"/>
          <p:nvPr/>
        </p:nvSpPr>
        <p:spPr>
          <a:xfrm>
            <a:off x="3348719" y="9794298"/>
            <a:ext cx="10603743" cy="333608"/>
          </a:xfrm>
          <a:prstGeom prst="rect">
            <a:avLst/>
          </a:prstGeom>
        </p:spPr>
        <p:txBody>
          <a:bodyPr lIns="0" tIns="0" rIns="0" bIns="0" rtlCol="0" anchor="t">
            <a:spAutoFit/>
          </a:bodyPr>
          <a:lstStyle/>
          <a:p>
            <a:pPr algn="ctr">
              <a:lnSpc>
                <a:spcPts val="2610"/>
              </a:lnSpc>
              <a:spcBef>
                <a:spcPct val="0"/>
              </a:spcBef>
            </a:pPr>
            <a:r>
              <a:rPr lang="en-US" sz="1865" b="1">
                <a:solidFill>
                  <a:srgbClr val="F4E9EC"/>
                </a:solidFill>
                <a:latin typeface="Poppins Semi-Bold"/>
                <a:ea typeface="Poppins Semi-Bold"/>
                <a:cs typeface="Poppins Semi-Bold"/>
                <a:sym typeface="Poppins Semi-Bold"/>
              </a:rPr>
              <a:t>Sri Indu College of Engg &amp; Tech - Cyber Club, Department of Cyber Security</a:t>
            </a:r>
          </a:p>
        </p:txBody>
      </p:sp>
      <p:sp>
        <p:nvSpPr>
          <p:cNvPr id="9" name="TextBox 9"/>
          <p:cNvSpPr txBox="1"/>
          <p:nvPr/>
        </p:nvSpPr>
        <p:spPr>
          <a:xfrm>
            <a:off x="793673" y="882423"/>
            <a:ext cx="1424228" cy="343535"/>
          </a:xfrm>
          <a:prstGeom prst="rect">
            <a:avLst/>
          </a:prstGeom>
        </p:spPr>
        <p:txBody>
          <a:bodyPr lIns="0" tIns="0" rIns="0" bIns="0" rtlCol="0" anchor="t">
            <a:spAutoFit/>
          </a:bodyPr>
          <a:lstStyle/>
          <a:p>
            <a:pPr algn="ctr">
              <a:lnSpc>
                <a:spcPts val="2705"/>
              </a:lnSpc>
            </a:pPr>
            <a:r>
              <a:rPr lang="en-AU" altLang="en-US" sz="1935" b="1">
                <a:solidFill>
                  <a:srgbClr val="000000"/>
                </a:solidFill>
                <a:latin typeface="Times New Roman Bold"/>
                <a:ea typeface="Times New Roman Bold"/>
                <a:cs typeface="Times New Roman Bold"/>
                <a:sym typeface="Times New Roman Bold"/>
              </a:rPr>
              <a:t>Cyber2</a:t>
            </a:r>
          </a:p>
        </p:txBody>
      </p:sp>
      <p:sp>
        <p:nvSpPr>
          <p:cNvPr id="10" name="TextBox 10"/>
          <p:cNvSpPr txBox="1"/>
          <p:nvPr/>
        </p:nvSpPr>
        <p:spPr>
          <a:xfrm>
            <a:off x="1600200" y="1812204"/>
            <a:ext cx="15066700" cy="6385851"/>
          </a:xfrm>
          <a:prstGeom prst="rect">
            <a:avLst/>
          </a:prstGeom>
        </p:spPr>
        <p:txBody>
          <a:bodyPr wrap="square" lIns="0" tIns="0" rIns="0" bIns="0" rtlCol="0" anchor="t">
            <a:spAutoFit/>
          </a:bodyPr>
          <a:lstStyle/>
          <a:p>
            <a:pPr marL="342900" indent="-342900" algn="just">
              <a:lnSpc>
                <a:spcPct val="150000"/>
              </a:lnSpc>
              <a:buFont typeface="Arial" panose="020B0604020202020204" pitchFamily="34" charset="0"/>
              <a:buChar char="•"/>
            </a:pPr>
            <a:r>
              <a:rPr lang="en-US" sz="2800" dirty="0">
                <a:solidFill>
                  <a:srgbClr val="000000"/>
                </a:solidFill>
                <a:latin typeface="Times New Roman"/>
                <a:ea typeface="Times New Roman"/>
                <a:cs typeface="Times New Roman"/>
                <a:sym typeface="Times New Roman"/>
              </a:rPr>
              <a:t>Launching a sustainable fashion brand is increasingly feasible due to growing interest in ethical fashion and environmental awareness, especially among eco-conscious millennials and Gen Z. Although initial costs for sustainable materials and ethical production are higher, brands can command premium pricing and better margins if positioned well. Certifications can boost credibility, while regulatory compliance is essential. </a:t>
            </a:r>
          </a:p>
          <a:p>
            <a:pPr marL="342900" indent="-342900" algn="just">
              <a:lnSpc>
                <a:spcPct val="150000"/>
              </a:lnSpc>
              <a:buFont typeface="Arial" panose="020B0604020202020204" pitchFamily="34" charset="0"/>
              <a:buChar char="•"/>
            </a:pPr>
            <a:r>
              <a:rPr lang="en-US" sz="2800" dirty="0">
                <a:solidFill>
                  <a:srgbClr val="000000"/>
                </a:solidFill>
                <a:latin typeface="Times New Roman"/>
                <a:ea typeface="Times New Roman"/>
                <a:cs typeface="Times New Roman"/>
                <a:sym typeface="Times New Roman"/>
              </a:rPr>
              <a:t>Key challenges include high startup costs, strong competition, consumer misconceptions, supply chain risks, and limited brand awareness. To address these, brands can form partnerships to manage costs, highlight unique selling points, run educational marketing campaigns, diversify suppliers, stay updated on regulations, and engage communities through social media. With these strategies, a sustainable fashion brand can successfully compete in this evolving market.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9559" y="-28807"/>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IN" dirty="0"/>
          </a:p>
        </p:txBody>
      </p:sp>
      <p:sp>
        <p:nvSpPr>
          <p:cNvPr id="3" name="Freeform 3"/>
          <p:cNvSpPr/>
          <p:nvPr/>
        </p:nvSpPr>
        <p:spPr>
          <a:xfrm>
            <a:off x="15910982" y="463512"/>
            <a:ext cx="2113659" cy="1009272"/>
          </a:xfrm>
          <a:custGeom>
            <a:avLst/>
            <a:gdLst/>
            <a:ahLst/>
            <a:cxnLst/>
            <a:rect l="l" t="t" r="r" b="b"/>
            <a:pathLst>
              <a:path w="2113659" h="1009272">
                <a:moveTo>
                  <a:pt x="0" y="0"/>
                </a:moveTo>
                <a:lnTo>
                  <a:pt x="2113659" y="0"/>
                </a:lnTo>
                <a:lnTo>
                  <a:pt x="2113659" y="1009272"/>
                </a:lnTo>
                <a:lnTo>
                  <a:pt x="0" y="1009272"/>
                </a:lnTo>
                <a:lnTo>
                  <a:pt x="0" y="0"/>
                </a:lnTo>
                <a:close/>
              </a:path>
            </a:pathLst>
          </a:custGeom>
          <a:blipFill>
            <a:blip r:embed="rId3"/>
            <a:stretch>
              <a:fillRect/>
            </a:stretch>
          </a:blipFill>
        </p:spPr>
      </p:sp>
      <p:sp>
        <p:nvSpPr>
          <p:cNvPr id="4" name="Freeform 4"/>
          <p:cNvSpPr/>
          <p:nvPr/>
        </p:nvSpPr>
        <p:spPr>
          <a:xfrm>
            <a:off x="45723" y="9692353"/>
            <a:ext cx="18242277" cy="594647"/>
          </a:xfrm>
          <a:custGeom>
            <a:avLst/>
            <a:gdLst/>
            <a:ahLst/>
            <a:cxnLst/>
            <a:rect l="l" t="t" r="r" b="b"/>
            <a:pathLst>
              <a:path w="18242277" h="594647">
                <a:moveTo>
                  <a:pt x="0" y="0"/>
                </a:moveTo>
                <a:lnTo>
                  <a:pt x="18242277" y="0"/>
                </a:lnTo>
                <a:lnTo>
                  <a:pt x="18242277" y="594647"/>
                </a:lnTo>
                <a:lnTo>
                  <a:pt x="0" y="594647"/>
                </a:lnTo>
                <a:lnTo>
                  <a:pt x="0" y="0"/>
                </a:lnTo>
                <a:close/>
              </a:path>
            </a:pathLst>
          </a:custGeom>
          <a:blipFill>
            <a:blip r:embed="rId4"/>
            <a:stretch>
              <a:fillRect b="-34214"/>
            </a:stretch>
          </a:blipFill>
        </p:spPr>
      </p:sp>
      <p:sp>
        <p:nvSpPr>
          <p:cNvPr id="5" name="Freeform 5"/>
          <p:cNvSpPr/>
          <p:nvPr/>
        </p:nvSpPr>
        <p:spPr>
          <a:xfrm>
            <a:off x="578499" y="674602"/>
            <a:ext cx="1854575" cy="1155258"/>
          </a:xfrm>
          <a:custGeom>
            <a:avLst/>
            <a:gdLst/>
            <a:ahLst/>
            <a:cxnLst/>
            <a:rect l="l" t="t" r="r" b="b"/>
            <a:pathLst>
              <a:path w="1854575" h="1155258">
                <a:moveTo>
                  <a:pt x="0" y="0"/>
                </a:moveTo>
                <a:lnTo>
                  <a:pt x="1854575" y="0"/>
                </a:lnTo>
                <a:lnTo>
                  <a:pt x="1854575" y="1155258"/>
                </a:lnTo>
                <a:lnTo>
                  <a:pt x="0" y="1155258"/>
                </a:lnTo>
                <a:lnTo>
                  <a:pt x="0" y="0"/>
                </a:lnTo>
                <a:close/>
              </a:path>
            </a:pathLst>
          </a:custGeom>
          <a:blipFill>
            <a:blip r:embed="rId5"/>
            <a:stretch>
              <a:fillRect/>
            </a:stretch>
          </a:blipFill>
          <a:ln cap="sq">
            <a:noFill/>
            <a:prstDash val="solid"/>
            <a:miter/>
          </a:ln>
        </p:spPr>
      </p:sp>
      <p:sp>
        <p:nvSpPr>
          <p:cNvPr id="6" name="TextBox 6"/>
          <p:cNvSpPr txBox="1"/>
          <p:nvPr/>
        </p:nvSpPr>
        <p:spPr>
          <a:xfrm>
            <a:off x="16666900" y="9794298"/>
            <a:ext cx="1621100" cy="333608"/>
          </a:xfrm>
          <a:prstGeom prst="rect">
            <a:avLst/>
          </a:prstGeom>
        </p:spPr>
        <p:txBody>
          <a:bodyPr lIns="0" tIns="0" rIns="0" bIns="0" rtlCol="0" anchor="t">
            <a:spAutoFit/>
          </a:bodyPr>
          <a:lstStyle/>
          <a:p>
            <a:pPr algn="l">
              <a:lnSpc>
                <a:spcPts val="2610"/>
              </a:lnSpc>
            </a:pPr>
            <a:r>
              <a:rPr lang="en-US" sz="1865" b="1">
                <a:solidFill>
                  <a:srgbClr val="F4E9EC"/>
                </a:solidFill>
                <a:latin typeface="Poppins Semi-Bold"/>
                <a:ea typeface="Poppins Semi-Bold"/>
                <a:cs typeface="Poppins Semi-Bold"/>
                <a:sym typeface="Poppins Semi-Bold"/>
              </a:rPr>
              <a:t>Page 05</a:t>
            </a:r>
          </a:p>
        </p:txBody>
      </p:sp>
      <p:sp>
        <p:nvSpPr>
          <p:cNvPr id="7" name="TextBox 7"/>
          <p:cNvSpPr txBox="1"/>
          <p:nvPr/>
        </p:nvSpPr>
        <p:spPr>
          <a:xfrm>
            <a:off x="4624650" y="565676"/>
            <a:ext cx="8879582" cy="1039155"/>
          </a:xfrm>
          <a:prstGeom prst="rect">
            <a:avLst/>
          </a:prstGeom>
        </p:spPr>
        <p:txBody>
          <a:bodyPr lIns="0" tIns="0" rIns="0" bIns="0" rtlCol="0" anchor="t">
            <a:spAutoFit/>
          </a:bodyPr>
          <a:lstStyle/>
          <a:p>
            <a:pPr algn="ctr">
              <a:lnSpc>
                <a:spcPts val="7615"/>
              </a:lnSpc>
              <a:spcBef>
                <a:spcPct val="0"/>
              </a:spcBef>
            </a:pPr>
            <a:r>
              <a:rPr lang="en-US" sz="5440" b="1" dirty="0">
                <a:solidFill>
                  <a:srgbClr val="000000"/>
                </a:solidFill>
                <a:latin typeface="Times New Roman Bold"/>
                <a:ea typeface="Times New Roman Bold"/>
                <a:cs typeface="Times New Roman Bold"/>
                <a:sym typeface="Times New Roman Bold"/>
              </a:rPr>
              <a:t>IMPACT AND BENEFITS</a:t>
            </a:r>
          </a:p>
        </p:txBody>
      </p:sp>
      <p:sp>
        <p:nvSpPr>
          <p:cNvPr id="8" name="TextBox 8"/>
          <p:cNvSpPr txBox="1"/>
          <p:nvPr/>
        </p:nvSpPr>
        <p:spPr>
          <a:xfrm>
            <a:off x="3663860" y="9794298"/>
            <a:ext cx="10176053" cy="333608"/>
          </a:xfrm>
          <a:prstGeom prst="rect">
            <a:avLst/>
          </a:prstGeom>
        </p:spPr>
        <p:txBody>
          <a:bodyPr lIns="0" tIns="0" rIns="0" bIns="0" rtlCol="0" anchor="t">
            <a:spAutoFit/>
          </a:bodyPr>
          <a:lstStyle/>
          <a:p>
            <a:pPr algn="ctr">
              <a:lnSpc>
                <a:spcPts val="2610"/>
              </a:lnSpc>
              <a:spcBef>
                <a:spcPct val="0"/>
              </a:spcBef>
            </a:pPr>
            <a:r>
              <a:rPr lang="en-US" sz="1865" b="1">
                <a:solidFill>
                  <a:srgbClr val="F4E9EC"/>
                </a:solidFill>
                <a:latin typeface="Poppins Semi-Bold"/>
                <a:ea typeface="Poppins Semi-Bold"/>
                <a:cs typeface="Poppins Semi-Bold"/>
                <a:sym typeface="Poppins Semi-Bold"/>
              </a:rPr>
              <a:t>Sri Indu College of Engg &amp; Tech - Cyber Club, Department of Cyber Security</a:t>
            </a:r>
          </a:p>
        </p:txBody>
      </p:sp>
      <p:sp>
        <p:nvSpPr>
          <p:cNvPr id="9" name="TextBox 9"/>
          <p:cNvSpPr txBox="1"/>
          <p:nvPr/>
        </p:nvSpPr>
        <p:spPr>
          <a:xfrm>
            <a:off x="793673" y="882423"/>
            <a:ext cx="1424228" cy="343535"/>
          </a:xfrm>
          <a:prstGeom prst="rect">
            <a:avLst/>
          </a:prstGeom>
        </p:spPr>
        <p:txBody>
          <a:bodyPr lIns="0" tIns="0" rIns="0" bIns="0" rtlCol="0" anchor="t">
            <a:spAutoFit/>
          </a:bodyPr>
          <a:lstStyle/>
          <a:p>
            <a:pPr algn="ctr">
              <a:lnSpc>
                <a:spcPts val="2705"/>
              </a:lnSpc>
            </a:pPr>
            <a:r>
              <a:rPr lang="en-AU" altLang="en-US" sz="1935" b="1">
                <a:solidFill>
                  <a:srgbClr val="000000"/>
                </a:solidFill>
                <a:latin typeface="Times New Roman Bold"/>
                <a:ea typeface="Times New Roman Bold"/>
                <a:cs typeface="Times New Roman Bold"/>
                <a:sym typeface="Times New Roman Bold"/>
              </a:rPr>
              <a:t>Cyber2</a:t>
            </a:r>
          </a:p>
        </p:txBody>
      </p:sp>
      <p:sp>
        <p:nvSpPr>
          <p:cNvPr id="15" name="Rectangle 3">
            <a:extLst>
              <a:ext uri="{FF2B5EF4-FFF2-40B4-BE49-F238E27FC236}">
                <a16:creationId xmlns:a16="http://schemas.microsoft.com/office/drawing/2014/main" id="{A9F179B0-597C-8832-A5B5-86840E705F11}"/>
              </a:ext>
            </a:extLst>
          </p:cNvPr>
          <p:cNvSpPr>
            <a:spLocks noChangeArrowheads="1"/>
          </p:cNvSpPr>
          <p:nvPr/>
        </p:nvSpPr>
        <p:spPr bwMode="auto">
          <a:xfrm>
            <a:off x="2217901" y="2147150"/>
            <a:ext cx="14088899" cy="5806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3600" b="0" i="0" u="none" strike="noStrike" cap="none" normalizeH="0" baseline="0" dirty="0">
                <a:ln>
                  <a:noFill/>
                </a:ln>
                <a:solidFill>
                  <a:schemeClr val="tx1"/>
                </a:solidFill>
                <a:effectLst/>
                <a:latin typeface="Arial" panose="020B0604020202020204" pitchFamily="34" charset="0"/>
              </a:rPr>
              <a:t>An AI-powered face recognition attendance system offers a fast, accurate, and contactless way to track attendance, eliminating manual errors and preventing proxy entries. It enhances security, saves time, and reduces administrative workload by automating the process. With real-time monitoring and easy integration with HR or payroll systems, it proves to be a cost-effective and scalable solution for organizations of all sizes.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5723" y="122853"/>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IN" dirty="0"/>
          </a:p>
        </p:txBody>
      </p:sp>
      <p:sp>
        <p:nvSpPr>
          <p:cNvPr id="3" name="Freeform 3"/>
          <p:cNvSpPr/>
          <p:nvPr/>
        </p:nvSpPr>
        <p:spPr>
          <a:xfrm>
            <a:off x="15910982" y="463512"/>
            <a:ext cx="2113659" cy="1009272"/>
          </a:xfrm>
          <a:custGeom>
            <a:avLst/>
            <a:gdLst/>
            <a:ahLst/>
            <a:cxnLst/>
            <a:rect l="l" t="t" r="r" b="b"/>
            <a:pathLst>
              <a:path w="2113659" h="1009272">
                <a:moveTo>
                  <a:pt x="0" y="0"/>
                </a:moveTo>
                <a:lnTo>
                  <a:pt x="2113659" y="0"/>
                </a:lnTo>
                <a:lnTo>
                  <a:pt x="2113659" y="1009272"/>
                </a:lnTo>
                <a:lnTo>
                  <a:pt x="0" y="1009272"/>
                </a:lnTo>
                <a:lnTo>
                  <a:pt x="0" y="0"/>
                </a:lnTo>
                <a:close/>
              </a:path>
            </a:pathLst>
          </a:custGeom>
          <a:blipFill>
            <a:blip r:embed="rId3"/>
            <a:stretch>
              <a:fillRect/>
            </a:stretch>
          </a:blipFill>
        </p:spPr>
      </p:sp>
      <p:sp>
        <p:nvSpPr>
          <p:cNvPr id="4" name="Freeform 4"/>
          <p:cNvSpPr/>
          <p:nvPr/>
        </p:nvSpPr>
        <p:spPr>
          <a:xfrm>
            <a:off x="45723" y="9692353"/>
            <a:ext cx="18242277" cy="594647"/>
          </a:xfrm>
          <a:custGeom>
            <a:avLst/>
            <a:gdLst/>
            <a:ahLst/>
            <a:cxnLst/>
            <a:rect l="l" t="t" r="r" b="b"/>
            <a:pathLst>
              <a:path w="18242277" h="594647">
                <a:moveTo>
                  <a:pt x="0" y="0"/>
                </a:moveTo>
                <a:lnTo>
                  <a:pt x="18242277" y="0"/>
                </a:lnTo>
                <a:lnTo>
                  <a:pt x="18242277" y="594647"/>
                </a:lnTo>
                <a:lnTo>
                  <a:pt x="0" y="594647"/>
                </a:lnTo>
                <a:lnTo>
                  <a:pt x="0" y="0"/>
                </a:lnTo>
                <a:close/>
              </a:path>
            </a:pathLst>
          </a:custGeom>
          <a:blipFill>
            <a:blip r:embed="rId4"/>
            <a:stretch>
              <a:fillRect b="-34214"/>
            </a:stretch>
          </a:blipFill>
        </p:spPr>
      </p:sp>
      <p:sp>
        <p:nvSpPr>
          <p:cNvPr id="5" name="Freeform 5"/>
          <p:cNvSpPr/>
          <p:nvPr/>
        </p:nvSpPr>
        <p:spPr>
          <a:xfrm>
            <a:off x="578499" y="674602"/>
            <a:ext cx="1854575" cy="1155258"/>
          </a:xfrm>
          <a:custGeom>
            <a:avLst/>
            <a:gdLst/>
            <a:ahLst/>
            <a:cxnLst/>
            <a:rect l="l" t="t" r="r" b="b"/>
            <a:pathLst>
              <a:path w="1854575" h="1155258">
                <a:moveTo>
                  <a:pt x="0" y="0"/>
                </a:moveTo>
                <a:lnTo>
                  <a:pt x="1854575" y="0"/>
                </a:lnTo>
                <a:lnTo>
                  <a:pt x="1854575" y="1155258"/>
                </a:lnTo>
                <a:lnTo>
                  <a:pt x="0" y="1155258"/>
                </a:lnTo>
                <a:lnTo>
                  <a:pt x="0" y="0"/>
                </a:lnTo>
                <a:close/>
              </a:path>
            </a:pathLst>
          </a:custGeom>
          <a:blipFill>
            <a:blip r:embed="rId5"/>
            <a:stretch>
              <a:fillRect/>
            </a:stretch>
          </a:blipFill>
          <a:ln cap="sq">
            <a:noFill/>
            <a:prstDash val="solid"/>
            <a:miter/>
          </a:ln>
        </p:spPr>
      </p:sp>
      <p:sp>
        <p:nvSpPr>
          <p:cNvPr id="6" name="TextBox 6"/>
          <p:cNvSpPr txBox="1"/>
          <p:nvPr/>
        </p:nvSpPr>
        <p:spPr>
          <a:xfrm>
            <a:off x="16666900" y="9794298"/>
            <a:ext cx="1621100" cy="333608"/>
          </a:xfrm>
          <a:prstGeom prst="rect">
            <a:avLst/>
          </a:prstGeom>
        </p:spPr>
        <p:txBody>
          <a:bodyPr lIns="0" tIns="0" rIns="0" bIns="0" rtlCol="0" anchor="t">
            <a:spAutoFit/>
          </a:bodyPr>
          <a:lstStyle/>
          <a:p>
            <a:pPr algn="l">
              <a:lnSpc>
                <a:spcPts val="2610"/>
              </a:lnSpc>
            </a:pPr>
            <a:r>
              <a:rPr lang="en-US" sz="1865" b="1">
                <a:solidFill>
                  <a:srgbClr val="F4E9EC"/>
                </a:solidFill>
                <a:latin typeface="Poppins Semi-Bold"/>
                <a:ea typeface="Poppins Semi-Bold"/>
                <a:cs typeface="Poppins Semi-Bold"/>
                <a:sym typeface="Poppins Semi-Bold"/>
              </a:rPr>
              <a:t>Page 06</a:t>
            </a:r>
          </a:p>
        </p:txBody>
      </p:sp>
      <p:sp>
        <p:nvSpPr>
          <p:cNvPr id="7" name="TextBox 7"/>
          <p:cNvSpPr txBox="1"/>
          <p:nvPr/>
        </p:nvSpPr>
        <p:spPr>
          <a:xfrm>
            <a:off x="3482112" y="455527"/>
            <a:ext cx="11323776" cy="1039155"/>
          </a:xfrm>
          <a:prstGeom prst="rect">
            <a:avLst/>
          </a:prstGeom>
        </p:spPr>
        <p:txBody>
          <a:bodyPr lIns="0" tIns="0" rIns="0" bIns="0" rtlCol="0" anchor="t">
            <a:spAutoFit/>
          </a:bodyPr>
          <a:lstStyle/>
          <a:p>
            <a:pPr algn="ctr">
              <a:lnSpc>
                <a:spcPts val="7615"/>
              </a:lnSpc>
              <a:spcBef>
                <a:spcPct val="0"/>
              </a:spcBef>
            </a:pPr>
            <a:r>
              <a:rPr lang="en-US" sz="5440" b="1">
                <a:solidFill>
                  <a:srgbClr val="000000"/>
                </a:solidFill>
                <a:latin typeface="Times New Roman Bold"/>
                <a:ea typeface="Times New Roman Bold"/>
                <a:cs typeface="Times New Roman Bold"/>
                <a:sym typeface="Times New Roman Bold"/>
              </a:rPr>
              <a:t>RESEARCH AND REFERENCES</a:t>
            </a:r>
          </a:p>
        </p:txBody>
      </p:sp>
      <p:sp>
        <p:nvSpPr>
          <p:cNvPr id="8" name="TextBox 8"/>
          <p:cNvSpPr txBox="1"/>
          <p:nvPr/>
        </p:nvSpPr>
        <p:spPr>
          <a:xfrm>
            <a:off x="3795994" y="9794298"/>
            <a:ext cx="10378643" cy="333608"/>
          </a:xfrm>
          <a:prstGeom prst="rect">
            <a:avLst/>
          </a:prstGeom>
        </p:spPr>
        <p:txBody>
          <a:bodyPr lIns="0" tIns="0" rIns="0" bIns="0" rtlCol="0" anchor="t">
            <a:spAutoFit/>
          </a:bodyPr>
          <a:lstStyle/>
          <a:p>
            <a:pPr algn="ctr">
              <a:lnSpc>
                <a:spcPts val="2610"/>
              </a:lnSpc>
              <a:spcBef>
                <a:spcPct val="0"/>
              </a:spcBef>
            </a:pPr>
            <a:r>
              <a:rPr lang="en-US" sz="1865" b="1">
                <a:solidFill>
                  <a:srgbClr val="F4E9EC"/>
                </a:solidFill>
                <a:latin typeface="Poppins Semi-Bold"/>
                <a:ea typeface="Poppins Semi-Bold"/>
                <a:cs typeface="Poppins Semi-Bold"/>
                <a:sym typeface="Poppins Semi-Bold"/>
              </a:rPr>
              <a:t>Sri Indu College of Engg &amp; Tech - Cyber Club, Department of Cyber Security</a:t>
            </a:r>
          </a:p>
        </p:txBody>
      </p:sp>
      <p:sp>
        <p:nvSpPr>
          <p:cNvPr id="9" name="TextBox 9"/>
          <p:cNvSpPr txBox="1"/>
          <p:nvPr/>
        </p:nvSpPr>
        <p:spPr>
          <a:xfrm>
            <a:off x="793673" y="882423"/>
            <a:ext cx="1424228" cy="343535"/>
          </a:xfrm>
          <a:prstGeom prst="rect">
            <a:avLst/>
          </a:prstGeom>
        </p:spPr>
        <p:txBody>
          <a:bodyPr lIns="0" tIns="0" rIns="0" bIns="0" rtlCol="0" anchor="t">
            <a:spAutoFit/>
          </a:bodyPr>
          <a:lstStyle/>
          <a:p>
            <a:pPr algn="ctr">
              <a:lnSpc>
                <a:spcPts val="2705"/>
              </a:lnSpc>
            </a:pPr>
            <a:r>
              <a:rPr lang="en-AU" altLang="en-US" sz="1935" b="1">
                <a:solidFill>
                  <a:srgbClr val="000000"/>
                </a:solidFill>
                <a:latin typeface="Times New Roman Bold"/>
                <a:ea typeface="Times New Roman Bold"/>
                <a:cs typeface="Times New Roman Bold"/>
                <a:sym typeface="Times New Roman Bold"/>
              </a:rPr>
              <a:t>Cyber2</a:t>
            </a:r>
          </a:p>
        </p:txBody>
      </p:sp>
      <p:sp>
        <p:nvSpPr>
          <p:cNvPr id="11" name="Rectangle 1">
            <a:extLst>
              <a:ext uri="{FF2B5EF4-FFF2-40B4-BE49-F238E27FC236}">
                <a16:creationId xmlns:a16="http://schemas.microsoft.com/office/drawing/2014/main" id="{3968E7CD-6B29-1363-CE34-AD0E67152834}"/>
              </a:ext>
            </a:extLst>
          </p:cNvPr>
          <p:cNvSpPr>
            <a:spLocks noChangeArrowheads="1"/>
          </p:cNvSpPr>
          <p:nvPr/>
        </p:nvSpPr>
        <p:spPr bwMode="auto">
          <a:xfrm rot="10800000" flipV="1">
            <a:off x="578499" y="2434097"/>
            <a:ext cx="18024641"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hlinkClick r:id="rId6"/>
              </a:rPr>
              <a:t>Face Recognition Based Attendance System</a:t>
            </a:r>
            <a:br>
              <a:rPr kumimoji="0" lang="en-US" altLang="en-US" sz="2800" b="0" i="0" u="none" strike="noStrike" cap="none" normalizeH="0" baseline="0" dirty="0">
                <a:ln>
                  <a:noFill/>
                </a:ln>
                <a:solidFill>
                  <a:schemeClr val="tx1"/>
                </a:solidFill>
                <a:effectLst/>
                <a:latin typeface="Arial" panose="020B0604020202020204" pitchFamily="34" charset="0"/>
              </a:rPr>
            </a:br>
            <a:r>
              <a:rPr kumimoji="0" lang="en-US" altLang="en-US" sz="2800" b="0" i="0" u="none" strike="noStrike" cap="none" normalizeH="0" baseline="0" dirty="0">
                <a:ln>
                  <a:noFill/>
                </a:ln>
                <a:solidFill>
                  <a:schemeClr val="tx1"/>
                </a:solidFill>
                <a:effectLst/>
                <a:latin typeface="Arial" panose="020B0604020202020204" pitchFamily="34" charset="0"/>
              </a:rPr>
              <a:t>An AI-based software solution that updates attendance using computer vision, divided into a face scanner module (Python) and a management module (C#).</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hlinkClick r:id="rId7"/>
              </a:rPr>
              <a:t>Real-time Student Class Attendance System Utilizing AI Face Recognition</a:t>
            </a:r>
            <a:br>
              <a:rPr kumimoji="0" lang="en-US" altLang="en-US" sz="2800" b="0" i="0" u="none" strike="noStrike" cap="none" normalizeH="0" baseline="0" dirty="0">
                <a:ln>
                  <a:noFill/>
                </a:ln>
                <a:solidFill>
                  <a:schemeClr val="tx1"/>
                </a:solidFill>
                <a:effectLst/>
                <a:latin typeface="Arial" panose="020B0604020202020204" pitchFamily="34" charset="0"/>
              </a:rPr>
            </a:br>
            <a:r>
              <a:rPr kumimoji="0" lang="en-US" altLang="en-US" sz="2800" b="0" i="0" u="none" strike="noStrike" cap="none" normalizeH="0" baseline="0" dirty="0">
                <a:ln>
                  <a:noFill/>
                </a:ln>
                <a:solidFill>
                  <a:schemeClr val="tx1"/>
                </a:solidFill>
                <a:effectLst/>
                <a:latin typeface="Arial" panose="020B0604020202020204" pitchFamily="34" charset="0"/>
              </a:rPr>
              <a:t>A comprehensive end-to-end system that captures student images post-class and uses AI for real-time attendance marking.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
        <p:nvSpPr>
          <p:cNvPr id="12" name="Rectangle 2">
            <a:extLst>
              <a:ext uri="{FF2B5EF4-FFF2-40B4-BE49-F238E27FC236}">
                <a16:creationId xmlns:a16="http://schemas.microsoft.com/office/drawing/2014/main" id="{D5484A0E-32D6-CAAD-8C3D-A60DEBEEC005}"/>
              </a:ext>
            </a:extLst>
          </p:cNvPr>
          <p:cNvSpPr>
            <a:spLocks noChangeArrowheads="1"/>
          </p:cNvSpPr>
          <p:nvPr/>
        </p:nvSpPr>
        <p:spPr bwMode="auto">
          <a:xfrm rot="10800000" flipV="1">
            <a:off x="565215" y="5298590"/>
            <a:ext cx="16840200"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hlinkClick r:id="rId8"/>
              </a:rPr>
              <a:t>Attendance System With Facial Recognition Using AI</a:t>
            </a:r>
            <a:br>
              <a:rPr kumimoji="0" lang="en-US" altLang="en-US" sz="2800" b="0" i="0" u="none" strike="noStrike" cap="none" normalizeH="0" baseline="0" dirty="0">
                <a:ln>
                  <a:noFill/>
                </a:ln>
                <a:solidFill>
                  <a:schemeClr val="tx1"/>
                </a:solidFill>
                <a:effectLst/>
                <a:latin typeface="Arial" panose="020B0604020202020204" pitchFamily="34" charset="0"/>
              </a:rPr>
            </a:br>
            <a:r>
              <a:rPr kumimoji="0" lang="en-US" altLang="en-US" sz="2800" b="0" i="0" u="none" strike="noStrike" cap="none" normalizeH="0" baseline="0" dirty="0">
                <a:ln>
                  <a:noFill/>
                </a:ln>
                <a:solidFill>
                  <a:schemeClr val="tx1"/>
                </a:solidFill>
                <a:effectLst/>
                <a:latin typeface="Arial" panose="020B0604020202020204" pitchFamily="34" charset="0"/>
              </a:rPr>
              <a:t>This paper outlines a four-phase system: dataset creation, face detection, recognition, and attendance updating, aimed at reducing manual errors and preventing proxy attendance.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hlinkClick r:id="rId9"/>
              </a:rPr>
              <a:t>AI Based Attendance System using Face Recognition</a:t>
            </a:r>
            <a:br>
              <a:rPr kumimoji="0" lang="en-US" altLang="en-US" sz="2800" b="0" i="0" u="none" strike="noStrike" cap="none" normalizeH="0" baseline="0" dirty="0">
                <a:ln>
                  <a:noFill/>
                </a:ln>
                <a:solidFill>
                  <a:schemeClr val="tx1"/>
                </a:solidFill>
                <a:effectLst/>
                <a:latin typeface="Arial" panose="020B0604020202020204" pitchFamily="34" charset="0"/>
              </a:rPr>
            </a:br>
            <a:r>
              <a:rPr kumimoji="0" lang="en-US" altLang="en-US" sz="2800" b="0" i="0" u="none" strike="noStrike" cap="none" normalizeH="0" baseline="0" dirty="0">
                <a:ln>
                  <a:noFill/>
                </a:ln>
                <a:solidFill>
                  <a:schemeClr val="tx1"/>
                </a:solidFill>
                <a:effectLst/>
                <a:latin typeface="Arial" panose="020B0604020202020204" pitchFamily="34" charset="0"/>
              </a:rPr>
              <a:t>Discusses a system where individual faces are scanned, verified, and matched with an existing dataset to mark attendance, minimizing errors.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IN" dirty="0"/>
          </a:p>
        </p:txBody>
      </p:sp>
      <p:sp>
        <p:nvSpPr>
          <p:cNvPr id="3" name="Freeform 3"/>
          <p:cNvSpPr/>
          <p:nvPr/>
        </p:nvSpPr>
        <p:spPr>
          <a:xfrm>
            <a:off x="15910982" y="463512"/>
            <a:ext cx="2113659" cy="1009272"/>
          </a:xfrm>
          <a:custGeom>
            <a:avLst/>
            <a:gdLst/>
            <a:ahLst/>
            <a:cxnLst/>
            <a:rect l="l" t="t" r="r" b="b"/>
            <a:pathLst>
              <a:path w="2113659" h="1009272">
                <a:moveTo>
                  <a:pt x="0" y="0"/>
                </a:moveTo>
                <a:lnTo>
                  <a:pt x="2113659" y="0"/>
                </a:lnTo>
                <a:lnTo>
                  <a:pt x="2113659" y="1009272"/>
                </a:lnTo>
                <a:lnTo>
                  <a:pt x="0" y="1009272"/>
                </a:lnTo>
                <a:lnTo>
                  <a:pt x="0" y="0"/>
                </a:lnTo>
                <a:close/>
              </a:path>
            </a:pathLst>
          </a:custGeom>
          <a:blipFill>
            <a:blip r:embed="rId3"/>
            <a:stretch>
              <a:fillRect/>
            </a:stretch>
          </a:blipFill>
        </p:spPr>
      </p:sp>
      <p:sp>
        <p:nvSpPr>
          <p:cNvPr id="4" name="Freeform 4"/>
          <p:cNvSpPr/>
          <p:nvPr/>
        </p:nvSpPr>
        <p:spPr>
          <a:xfrm>
            <a:off x="45723" y="9692353"/>
            <a:ext cx="18242277" cy="594647"/>
          </a:xfrm>
          <a:custGeom>
            <a:avLst/>
            <a:gdLst/>
            <a:ahLst/>
            <a:cxnLst/>
            <a:rect l="l" t="t" r="r" b="b"/>
            <a:pathLst>
              <a:path w="18242277" h="594647">
                <a:moveTo>
                  <a:pt x="0" y="0"/>
                </a:moveTo>
                <a:lnTo>
                  <a:pt x="18242277" y="0"/>
                </a:lnTo>
                <a:lnTo>
                  <a:pt x="18242277" y="594647"/>
                </a:lnTo>
                <a:lnTo>
                  <a:pt x="0" y="594647"/>
                </a:lnTo>
                <a:lnTo>
                  <a:pt x="0" y="0"/>
                </a:lnTo>
                <a:close/>
              </a:path>
            </a:pathLst>
          </a:custGeom>
          <a:blipFill>
            <a:blip r:embed="rId4"/>
            <a:stretch>
              <a:fillRect b="-34214"/>
            </a:stretch>
          </a:blipFill>
        </p:spPr>
      </p:sp>
      <p:sp>
        <p:nvSpPr>
          <p:cNvPr id="5" name="Freeform 5"/>
          <p:cNvSpPr/>
          <p:nvPr/>
        </p:nvSpPr>
        <p:spPr>
          <a:xfrm>
            <a:off x="578499" y="674602"/>
            <a:ext cx="1854575" cy="1155258"/>
          </a:xfrm>
          <a:custGeom>
            <a:avLst/>
            <a:gdLst/>
            <a:ahLst/>
            <a:cxnLst/>
            <a:rect l="l" t="t" r="r" b="b"/>
            <a:pathLst>
              <a:path w="1854575" h="1155258">
                <a:moveTo>
                  <a:pt x="0" y="0"/>
                </a:moveTo>
                <a:lnTo>
                  <a:pt x="1854575" y="0"/>
                </a:lnTo>
                <a:lnTo>
                  <a:pt x="1854575" y="1155258"/>
                </a:lnTo>
                <a:lnTo>
                  <a:pt x="0" y="1155258"/>
                </a:lnTo>
                <a:lnTo>
                  <a:pt x="0" y="0"/>
                </a:lnTo>
                <a:close/>
              </a:path>
            </a:pathLst>
          </a:custGeom>
          <a:blipFill>
            <a:blip r:embed="rId5"/>
            <a:stretch>
              <a:fillRect/>
            </a:stretch>
          </a:blipFill>
          <a:ln cap="sq">
            <a:noFill/>
            <a:prstDash val="solid"/>
            <a:miter/>
          </a:ln>
        </p:spPr>
      </p:sp>
      <p:sp>
        <p:nvSpPr>
          <p:cNvPr id="6" name="TextBox 6"/>
          <p:cNvSpPr txBox="1"/>
          <p:nvPr/>
        </p:nvSpPr>
        <p:spPr>
          <a:xfrm>
            <a:off x="16666900" y="9794298"/>
            <a:ext cx="1621100" cy="333608"/>
          </a:xfrm>
          <a:prstGeom prst="rect">
            <a:avLst/>
          </a:prstGeom>
        </p:spPr>
        <p:txBody>
          <a:bodyPr lIns="0" tIns="0" rIns="0" bIns="0" rtlCol="0" anchor="t">
            <a:spAutoFit/>
          </a:bodyPr>
          <a:lstStyle/>
          <a:p>
            <a:pPr algn="l">
              <a:lnSpc>
                <a:spcPts val="2610"/>
              </a:lnSpc>
            </a:pPr>
            <a:r>
              <a:rPr lang="en-US" sz="1865" b="1">
                <a:solidFill>
                  <a:srgbClr val="F4E9EC"/>
                </a:solidFill>
                <a:latin typeface="Poppins Semi-Bold"/>
                <a:ea typeface="Poppins Semi-Bold"/>
                <a:cs typeface="Poppins Semi-Bold"/>
                <a:sym typeface="Poppins Semi-Bold"/>
              </a:rPr>
              <a:t>Page 07</a:t>
            </a:r>
          </a:p>
        </p:txBody>
      </p:sp>
      <p:sp>
        <p:nvSpPr>
          <p:cNvPr id="7" name="TextBox 7"/>
          <p:cNvSpPr txBox="1"/>
          <p:nvPr/>
        </p:nvSpPr>
        <p:spPr>
          <a:xfrm>
            <a:off x="4383474" y="841771"/>
            <a:ext cx="9937554" cy="1042951"/>
          </a:xfrm>
          <a:prstGeom prst="rect">
            <a:avLst/>
          </a:prstGeom>
        </p:spPr>
        <p:txBody>
          <a:bodyPr lIns="0" tIns="0" rIns="0" bIns="0" rtlCol="0" anchor="t">
            <a:spAutoFit/>
          </a:bodyPr>
          <a:lstStyle/>
          <a:p>
            <a:pPr algn="ctr">
              <a:lnSpc>
                <a:spcPts val="7615"/>
              </a:lnSpc>
              <a:spcBef>
                <a:spcPct val="0"/>
              </a:spcBef>
            </a:pPr>
            <a:r>
              <a:rPr lang="en-US" sz="5440" b="1">
                <a:solidFill>
                  <a:srgbClr val="000000"/>
                </a:solidFill>
                <a:latin typeface="Times New Roman Bold"/>
                <a:ea typeface="Times New Roman Bold"/>
                <a:cs typeface="Times New Roman Bold"/>
                <a:sym typeface="Times New Roman Bold"/>
              </a:rPr>
              <a:t>FUTURE ENHANCEMENTS</a:t>
            </a:r>
          </a:p>
        </p:txBody>
      </p:sp>
      <p:sp>
        <p:nvSpPr>
          <p:cNvPr id="8" name="TextBox 8"/>
          <p:cNvSpPr txBox="1"/>
          <p:nvPr/>
        </p:nvSpPr>
        <p:spPr>
          <a:xfrm>
            <a:off x="3596330" y="9794298"/>
            <a:ext cx="10206967" cy="333608"/>
          </a:xfrm>
          <a:prstGeom prst="rect">
            <a:avLst/>
          </a:prstGeom>
        </p:spPr>
        <p:txBody>
          <a:bodyPr lIns="0" tIns="0" rIns="0" bIns="0" rtlCol="0" anchor="t">
            <a:spAutoFit/>
          </a:bodyPr>
          <a:lstStyle/>
          <a:p>
            <a:pPr algn="ctr">
              <a:lnSpc>
                <a:spcPts val="2610"/>
              </a:lnSpc>
              <a:spcBef>
                <a:spcPct val="0"/>
              </a:spcBef>
            </a:pPr>
            <a:r>
              <a:rPr lang="en-US" sz="1865" b="1">
                <a:solidFill>
                  <a:srgbClr val="F4E9EC"/>
                </a:solidFill>
                <a:latin typeface="Poppins Semi-Bold"/>
                <a:ea typeface="Poppins Semi-Bold"/>
                <a:cs typeface="Poppins Semi-Bold"/>
                <a:sym typeface="Poppins Semi-Bold"/>
              </a:rPr>
              <a:t>Sri Indu College of Engg &amp; Tech - Cyber Club, Department of Cyber Security</a:t>
            </a:r>
          </a:p>
        </p:txBody>
      </p:sp>
      <p:sp>
        <p:nvSpPr>
          <p:cNvPr id="9" name="TextBox 9"/>
          <p:cNvSpPr txBox="1"/>
          <p:nvPr/>
        </p:nvSpPr>
        <p:spPr>
          <a:xfrm>
            <a:off x="793673" y="882423"/>
            <a:ext cx="1424228" cy="343535"/>
          </a:xfrm>
          <a:prstGeom prst="rect">
            <a:avLst/>
          </a:prstGeom>
        </p:spPr>
        <p:txBody>
          <a:bodyPr lIns="0" tIns="0" rIns="0" bIns="0" rtlCol="0" anchor="t">
            <a:spAutoFit/>
          </a:bodyPr>
          <a:lstStyle/>
          <a:p>
            <a:pPr algn="ctr">
              <a:lnSpc>
                <a:spcPts val="2705"/>
              </a:lnSpc>
            </a:pPr>
            <a:r>
              <a:rPr lang="en-AU" altLang="en-US" sz="1935" b="1">
                <a:solidFill>
                  <a:srgbClr val="000000"/>
                </a:solidFill>
                <a:latin typeface="Times New Roman Bold"/>
                <a:ea typeface="Times New Roman Bold"/>
                <a:cs typeface="Times New Roman Bold"/>
                <a:sym typeface="Times New Roman Bold"/>
              </a:rPr>
              <a:t>Cyber2</a:t>
            </a:r>
          </a:p>
        </p:txBody>
      </p:sp>
      <p:sp>
        <p:nvSpPr>
          <p:cNvPr id="10" name="TextBox 10"/>
          <p:cNvSpPr txBox="1"/>
          <p:nvPr/>
        </p:nvSpPr>
        <p:spPr>
          <a:xfrm>
            <a:off x="1011850" y="3086100"/>
            <a:ext cx="16680801" cy="3196003"/>
          </a:xfrm>
          <a:prstGeom prst="rect">
            <a:avLst/>
          </a:prstGeom>
        </p:spPr>
        <p:txBody>
          <a:bodyPr lIns="0" tIns="0" rIns="0" bIns="0" rtlCol="0" anchor="t">
            <a:spAutoFit/>
          </a:bodyPr>
          <a:lstStyle/>
          <a:p>
            <a:pPr marL="571500" indent="-571500" algn="l">
              <a:lnSpc>
                <a:spcPts val="6415"/>
              </a:lnSpc>
              <a:buFont typeface="Arial" panose="020B0604020202020204" pitchFamily="34" charset="0"/>
              <a:buChar char="•"/>
            </a:pPr>
            <a:r>
              <a:rPr lang="en-IN" sz="4000" dirty="0"/>
              <a:t>Face + PIN </a:t>
            </a:r>
            <a:r>
              <a:rPr lang="en-IN" sz="4000" dirty="0" err="1"/>
              <a:t>Authenticatio</a:t>
            </a:r>
            <a:r>
              <a:rPr lang="en-US" sz="3935" dirty="0">
                <a:solidFill>
                  <a:srgbClr val="000000"/>
                </a:solidFill>
                <a:latin typeface="Times New Roman"/>
                <a:cs typeface="Times New Roman"/>
                <a:sym typeface="Times New Roman"/>
              </a:rPr>
              <a:t>n</a:t>
            </a:r>
          </a:p>
          <a:p>
            <a:pPr marL="571500" indent="-571500" algn="l">
              <a:lnSpc>
                <a:spcPts val="6415"/>
              </a:lnSpc>
              <a:buFont typeface="Arial" panose="020B0604020202020204" pitchFamily="34" charset="0"/>
              <a:buChar char="•"/>
            </a:pPr>
            <a:r>
              <a:rPr lang="en-IN" sz="4000" dirty="0"/>
              <a:t>Voice Feedback</a:t>
            </a:r>
            <a:endParaRPr lang="en-US" sz="3935" dirty="0">
              <a:solidFill>
                <a:srgbClr val="000000"/>
              </a:solidFill>
              <a:latin typeface="Times New Roman"/>
              <a:cs typeface="Times New Roman"/>
              <a:sym typeface="Times New Roman"/>
            </a:endParaRPr>
          </a:p>
          <a:p>
            <a:pPr marL="571500" indent="-571500" algn="l">
              <a:lnSpc>
                <a:spcPts val="6415"/>
              </a:lnSpc>
              <a:buFont typeface="Arial" panose="020B0604020202020204" pitchFamily="34" charset="0"/>
              <a:buChar char="•"/>
            </a:pPr>
            <a:r>
              <a:rPr lang="en-IN" sz="4000" dirty="0"/>
              <a:t>Liveness Detection</a:t>
            </a:r>
            <a:endParaRPr lang="en-US" sz="3935" dirty="0">
              <a:solidFill>
                <a:srgbClr val="000000"/>
              </a:solidFill>
              <a:latin typeface="Times New Roman"/>
              <a:cs typeface="Times New Roman"/>
              <a:sym typeface="Times New Roman"/>
            </a:endParaRPr>
          </a:p>
          <a:p>
            <a:pPr marL="571500" indent="-571500" algn="l">
              <a:lnSpc>
                <a:spcPts val="6415"/>
              </a:lnSpc>
              <a:buFont typeface="Arial" panose="020B0604020202020204" pitchFamily="34" charset="0"/>
              <a:buChar char="•"/>
            </a:pPr>
            <a:r>
              <a:rPr lang="en-IN" sz="4000" dirty="0"/>
              <a:t>Edit/Delete Student Profiles</a:t>
            </a:r>
            <a:endParaRPr lang="en-US" sz="3935" dirty="0">
              <a:solidFill>
                <a:srgbClr val="000000"/>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5723" y="-159094"/>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 name="Freeform 3"/>
          <p:cNvSpPr/>
          <p:nvPr/>
        </p:nvSpPr>
        <p:spPr>
          <a:xfrm>
            <a:off x="15910982" y="463512"/>
            <a:ext cx="2113659" cy="1009272"/>
          </a:xfrm>
          <a:custGeom>
            <a:avLst/>
            <a:gdLst/>
            <a:ahLst/>
            <a:cxnLst/>
            <a:rect l="l" t="t" r="r" b="b"/>
            <a:pathLst>
              <a:path w="2113659" h="1009272">
                <a:moveTo>
                  <a:pt x="0" y="0"/>
                </a:moveTo>
                <a:lnTo>
                  <a:pt x="2113659" y="0"/>
                </a:lnTo>
                <a:lnTo>
                  <a:pt x="2113659" y="1009272"/>
                </a:lnTo>
                <a:lnTo>
                  <a:pt x="0" y="1009272"/>
                </a:lnTo>
                <a:lnTo>
                  <a:pt x="0" y="0"/>
                </a:lnTo>
                <a:close/>
              </a:path>
            </a:pathLst>
          </a:custGeom>
          <a:blipFill>
            <a:blip r:embed="rId3"/>
            <a:stretch>
              <a:fillRect/>
            </a:stretch>
          </a:blipFill>
        </p:spPr>
      </p:sp>
      <p:sp>
        <p:nvSpPr>
          <p:cNvPr id="4" name="Freeform 4"/>
          <p:cNvSpPr/>
          <p:nvPr/>
        </p:nvSpPr>
        <p:spPr>
          <a:xfrm>
            <a:off x="45723" y="9692353"/>
            <a:ext cx="18242277" cy="594647"/>
          </a:xfrm>
          <a:custGeom>
            <a:avLst/>
            <a:gdLst/>
            <a:ahLst/>
            <a:cxnLst/>
            <a:rect l="l" t="t" r="r" b="b"/>
            <a:pathLst>
              <a:path w="18242277" h="594647">
                <a:moveTo>
                  <a:pt x="0" y="0"/>
                </a:moveTo>
                <a:lnTo>
                  <a:pt x="18242277" y="0"/>
                </a:lnTo>
                <a:lnTo>
                  <a:pt x="18242277" y="594647"/>
                </a:lnTo>
                <a:lnTo>
                  <a:pt x="0" y="594647"/>
                </a:lnTo>
                <a:lnTo>
                  <a:pt x="0" y="0"/>
                </a:lnTo>
                <a:close/>
              </a:path>
            </a:pathLst>
          </a:custGeom>
          <a:blipFill>
            <a:blip r:embed="rId4"/>
            <a:stretch>
              <a:fillRect b="-34214"/>
            </a:stretch>
          </a:blipFill>
        </p:spPr>
      </p:sp>
      <p:sp>
        <p:nvSpPr>
          <p:cNvPr id="5" name="Freeform 5"/>
          <p:cNvSpPr/>
          <p:nvPr/>
        </p:nvSpPr>
        <p:spPr>
          <a:xfrm>
            <a:off x="578499" y="674602"/>
            <a:ext cx="1854575" cy="1155258"/>
          </a:xfrm>
          <a:custGeom>
            <a:avLst/>
            <a:gdLst/>
            <a:ahLst/>
            <a:cxnLst/>
            <a:rect l="l" t="t" r="r" b="b"/>
            <a:pathLst>
              <a:path w="1854575" h="1155258">
                <a:moveTo>
                  <a:pt x="0" y="0"/>
                </a:moveTo>
                <a:lnTo>
                  <a:pt x="1854575" y="0"/>
                </a:lnTo>
                <a:lnTo>
                  <a:pt x="1854575" y="1155258"/>
                </a:lnTo>
                <a:lnTo>
                  <a:pt x="0" y="1155258"/>
                </a:lnTo>
                <a:lnTo>
                  <a:pt x="0" y="0"/>
                </a:lnTo>
                <a:close/>
              </a:path>
            </a:pathLst>
          </a:custGeom>
          <a:blipFill>
            <a:blip r:embed="rId5"/>
            <a:stretch>
              <a:fillRect/>
            </a:stretch>
          </a:blipFill>
          <a:ln cap="sq">
            <a:noFill/>
            <a:prstDash val="solid"/>
            <a:miter/>
          </a:ln>
        </p:spPr>
      </p:sp>
      <p:sp>
        <p:nvSpPr>
          <p:cNvPr id="6" name="TextBox 6"/>
          <p:cNvSpPr txBox="1"/>
          <p:nvPr/>
        </p:nvSpPr>
        <p:spPr>
          <a:xfrm>
            <a:off x="16666900" y="9794298"/>
            <a:ext cx="1621100" cy="333608"/>
          </a:xfrm>
          <a:prstGeom prst="rect">
            <a:avLst/>
          </a:prstGeom>
        </p:spPr>
        <p:txBody>
          <a:bodyPr lIns="0" tIns="0" rIns="0" bIns="0" rtlCol="0" anchor="t">
            <a:spAutoFit/>
          </a:bodyPr>
          <a:lstStyle/>
          <a:p>
            <a:pPr algn="l">
              <a:lnSpc>
                <a:spcPts val="2610"/>
              </a:lnSpc>
            </a:pPr>
            <a:r>
              <a:rPr lang="en-US" sz="1865" b="1">
                <a:solidFill>
                  <a:srgbClr val="F4E9EC"/>
                </a:solidFill>
                <a:latin typeface="Poppins Semi-Bold"/>
                <a:ea typeface="Poppins Semi-Bold"/>
                <a:cs typeface="Poppins Semi-Bold"/>
                <a:sym typeface="Poppins Semi-Bold"/>
              </a:rPr>
              <a:t>Page 08</a:t>
            </a:r>
          </a:p>
        </p:txBody>
      </p:sp>
      <p:sp>
        <p:nvSpPr>
          <p:cNvPr id="7" name="TextBox 7"/>
          <p:cNvSpPr txBox="1"/>
          <p:nvPr/>
        </p:nvSpPr>
        <p:spPr>
          <a:xfrm>
            <a:off x="5644036" y="1018927"/>
            <a:ext cx="8857072" cy="1042951"/>
          </a:xfrm>
          <a:prstGeom prst="rect">
            <a:avLst/>
          </a:prstGeom>
        </p:spPr>
        <p:txBody>
          <a:bodyPr lIns="0" tIns="0" rIns="0" bIns="0" rtlCol="0" anchor="t">
            <a:spAutoFit/>
          </a:bodyPr>
          <a:lstStyle/>
          <a:p>
            <a:pPr algn="ctr">
              <a:lnSpc>
                <a:spcPts val="7615"/>
              </a:lnSpc>
              <a:spcBef>
                <a:spcPct val="0"/>
              </a:spcBef>
            </a:pPr>
            <a:r>
              <a:rPr lang="en-US" sz="5440" b="1">
                <a:solidFill>
                  <a:srgbClr val="000000"/>
                </a:solidFill>
                <a:latin typeface="Times New Roman Bold"/>
                <a:ea typeface="Times New Roman Bold"/>
                <a:cs typeface="Times New Roman Bold"/>
                <a:sym typeface="Times New Roman Bold"/>
              </a:rPr>
              <a:t>DEMO (IF APPLICABLE)</a:t>
            </a:r>
          </a:p>
        </p:txBody>
      </p:sp>
      <p:sp>
        <p:nvSpPr>
          <p:cNvPr id="8" name="TextBox 8"/>
          <p:cNvSpPr txBox="1"/>
          <p:nvPr/>
        </p:nvSpPr>
        <p:spPr>
          <a:xfrm>
            <a:off x="3950476" y="9794298"/>
            <a:ext cx="10387047" cy="333608"/>
          </a:xfrm>
          <a:prstGeom prst="rect">
            <a:avLst/>
          </a:prstGeom>
        </p:spPr>
        <p:txBody>
          <a:bodyPr lIns="0" tIns="0" rIns="0" bIns="0" rtlCol="0" anchor="t">
            <a:spAutoFit/>
          </a:bodyPr>
          <a:lstStyle/>
          <a:p>
            <a:pPr algn="ctr">
              <a:lnSpc>
                <a:spcPts val="2610"/>
              </a:lnSpc>
              <a:spcBef>
                <a:spcPct val="0"/>
              </a:spcBef>
            </a:pPr>
            <a:r>
              <a:rPr lang="en-US" sz="1865" b="1" dirty="0">
                <a:solidFill>
                  <a:srgbClr val="F4E9EC"/>
                </a:solidFill>
                <a:latin typeface="Poppins Semi-Bold"/>
                <a:ea typeface="Poppins Semi-Bold"/>
                <a:cs typeface="Poppins Semi-Bold"/>
                <a:sym typeface="Poppins Semi-Bold"/>
              </a:rPr>
              <a:t>Sri Indu College of </a:t>
            </a:r>
            <a:r>
              <a:rPr lang="en-US" sz="1865" b="1" dirty="0" err="1">
                <a:solidFill>
                  <a:srgbClr val="F4E9EC"/>
                </a:solidFill>
                <a:latin typeface="Poppins Semi-Bold"/>
                <a:ea typeface="Poppins Semi-Bold"/>
                <a:cs typeface="Poppins Semi-Bold"/>
                <a:sym typeface="Poppins Semi-Bold"/>
              </a:rPr>
              <a:t>Engg</a:t>
            </a:r>
            <a:r>
              <a:rPr lang="en-US" sz="1865" b="1" dirty="0">
                <a:solidFill>
                  <a:srgbClr val="F4E9EC"/>
                </a:solidFill>
                <a:latin typeface="Poppins Semi-Bold"/>
                <a:ea typeface="Poppins Semi-Bold"/>
                <a:cs typeface="Poppins Semi-Bold"/>
                <a:sym typeface="Poppins Semi-Bold"/>
              </a:rPr>
              <a:t> &amp; Tech - Cyber Club, Department of Cyber Security</a:t>
            </a:r>
          </a:p>
        </p:txBody>
      </p:sp>
      <p:sp>
        <p:nvSpPr>
          <p:cNvPr id="9" name="TextBox 9"/>
          <p:cNvSpPr txBox="1"/>
          <p:nvPr/>
        </p:nvSpPr>
        <p:spPr>
          <a:xfrm>
            <a:off x="793673" y="882423"/>
            <a:ext cx="1424228" cy="343535"/>
          </a:xfrm>
          <a:prstGeom prst="rect">
            <a:avLst/>
          </a:prstGeom>
        </p:spPr>
        <p:txBody>
          <a:bodyPr lIns="0" tIns="0" rIns="0" bIns="0" rtlCol="0" anchor="t">
            <a:spAutoFit/>
          </a:bodyPr>
          <a:lstStyle/>
          <a:p>
            <a:pPr algn="ctr">
              <a:lnSpc>
                <a:spcPts val="2705"/>
              </a:lnSpc>
            </a:pPr>
            <a:r>
              <a:rPr lang="en-AU" altLang="en-US" sz="1935" b="1">
                <a:solidFill>
                  <a:srgbClr val="000000"/>
                </a:solidFill>
                <a:latin typeface="Times New Roman Bold"/>
                <a:ea typeface="Times New Roman Bold"/>
                <a:cs typeface="Times New Roman Bold"/>
                <a:sym typeface="Times New Roman Bold"/>
              </a:rPr>
              <a:t>Cyber2</a:t>
            </a:r>
          </a:p>
        </p:txBody>
      </p:sp>
      <p:pic>
        <p:nvPicPr>
          <p:cNvPr id="14" name="Picture 13">
            <a:extLst>
              <a:ext uri="{FF2B5EF4-FFF2-40B4-BE49-F238E27FC236}">
                <a16:creationId xmlns:a16="http://schemas.microsoft.com/office/drawing/2014/main" id="{4BE30080-7050-D9A9-30AB-70A0F2DFB74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980438" y="2530309"/>
            <a:ext cx="12235677" cy="610637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 name="Freeform 3"/>
          <p:cNvSpPr/>
          <p:nvPr/>
        </p:nvSpPr>
        <p:spPr>
          <a:xfrm>
            <a:off x="15910982" y="463512"/>
            <a:ext cx="2113659" cy="1009272"/>
          </a:xfrm>
          <a:custGeom>
            <a:avLst/>
            <a:gdLst/>
            <a:ahLst/>
            <a:cxnLst/>
            <a:rect l="l" t="t" r="r" b="b"/>
            <a:pathLst>
              <a:path w="2113659" h="1009272">
                <a:moveTo>
                  <a:pt x="0" y="0"/>
                </a:moveTo>
                <a:lnTo>
                  <a:pt x="2113659" y="0"/>
                </a:lnTo>
                <a:lnTo>
                  <a:pt x="2113659" y="1009272"/>
                </a:lnTo>
                <a:lnTo>
                  <a:pt x="0" y="1009272"/>
                </a:lnTo>
                <a:lnTo>
                  <a:pt x="0" y="0"/>
                </a:lnTo>
                <a:close/>
              </a:path>
            </a:pathLst>
          </a:custGeom>
          <a:blipFill>
            <a:blip r:embed="rId3"/>
            <a:stretch>
              <a:fillRect/>
            </a:stretch>
          </a:blipFill>
        </p:spPr>
      </p:sp>
      <p:sp>
        <p:nvSpPr>
          <p:cNvPr id="4" name="Freeform 4"/>
          <p:cNvSpPr/>
          <p:nvPr/>
        </p:nvSpPr>
        <p:spPr>
          <a:xfrm>
            <a:off x="45723" y="9692353"/>
            <a:ext cx="18242277" cy="594647"/>
          </a:xfrm>
          <a:custGeom>
            <a:avLst/>
            <a:gdLst/>
            <a:ahLst/>
            <a:cxnLst/>
            <a:rect l="l" t="t" r="r" b="b"/>
            <a:pathLst>
              <a:path w="18242277" h="594647">
                <a:moveTo>
                  <a:pt x="0" y="0"/>
                </a:moveTo>
                <a:lnTo>
                  <a:pt x="18242277" y="0"/>
                </a:lnTo>
                <a:lnTo>
                  <a:pt x="18242277" y="594647"/>
                </a:lnTo>
                <a:lnTo>
                  <a:pt x="0" y="594647"/>
                </a:lnTo>
                <a:lnTo>
                  <a:pt x="0" y="0"/>
                </a:lnTo>
                <a:close/>
              </a:path>
            </a:pathLst>
          </a:custGeom>
          <a:blipFill>
            <a:blip r:embed="rId4"/>
            <a:stretch>
              <a:fillRect b="-34214"/>
            </a:stretch>
          </a:blipFill>
        </p:spPr>
      </p:sp>
      <p:sp>
        <p:nvSpPr>
          <p:cNvPr id="5" name="Freeform 5"/>
          <p:cNvSpPr/>
          <p:nvPr/>
        </p:nvSpPr>
        <p:spPr>
          <a:xfrm>
            <a:off x="578499" y="674602"/>
            <a:ext cx="1854575" cy="1155258"/>
          </a:xfrm>
          <a:custGeom>
            <a:avLst/>
            <a:gdLst/>
            <a:ahLst/>
            <a:cxnLst/>
            <a:rect l="l" t="t" r="r" b="b"/>
            <a:pathLst>
              <a:path w="1854575" h="1155258">
                <a:moveTo>
                  <a:pt x="0" y="0"/>
                </a:moveTo>
                <a:lnTo>
                  <a:pt x="1854575" y="0"/>
                </a:lnTo>
                <a:lnTo>
                  <a:pt x="1854575" y="1155258"/>
                </a:lnTo>
                <a:lnTo>
                  <a:pt x="0" y="1155258"/>
                </a:lnTo>
                <a:lnTo>
                  <a:pt x="0" y="0"/>
                </a:lnTo>
                <a:close/>
              </a:path>
            </a:pathLst>
          </a:custGeom>
          <a:blipFill>
            <a:blip r:embed="rId5"/>
            <a:stretch>
              <a:fillRect/>
            </a:stretch>
          </a:blipFill>
          <a:ln cap="sq">
            <a:noFill/>
            <a:prstDash val="solid"/>
            <a:miter/>
          </a:ln>
        </p:spPr>
      </p:sp>
      <p:sp>
        <p:nvSpPr>
          <p:cNvPr id="6" name="TextBox 6"/>
          <p:cNvSpPr txBox="1"/>
          <p:nvPr/>
        </p:nvSpPr>
        <p:spPr>
          <a:xfrm>
            <a:off x="16666900" y="9794298"/>
            <a:ext cx="1621100" cy="333608"/>
          </a:xfrm>
          <a:prstGeom prst="rect">
            <a:avLst/>
          </a:prstGeom>
        </p:spPr>
        <p:txBody>
          <a:bodyPr lIns="0" tIns="0" rIns="0" bIns="0" rtlCol="0" anchor="t">
            <a:spAutoFit/>
          </a:bodyPr>
          <a:lstStyle/>
          <a:p>
            <a:pPr algn="l">
              <a:lnSpc>
                <a:spcPts val="2610"/>
              </a:lnSpc>
            </a:pPr>
            <a:r>
              <a:rPr lang="en-US" sz="1865" b="1">
                <a:solidFill>
                  <a:srgbClr val="F4E9EC"/>
                </a:solidFill>
                <a:latin typeface="Poppins Semi-Bold"/>
                <a:ea typeface="Poppins Semi-Bold"/>
                <a:cs typeface="Poppins Semi-Bold"/>
                <a:sym typeface="Poppins Semi-Bold"/>
              </a:rPr>
              <a:t>Page 09</a:t>
            </a:r>
          </a:p>
        </p:txBody>
      </p:sp>
      <p:sp>
        <p:nvSpPr>
          <p:cNvPr id="7" name="TextBox 7"/>
          <p:cNvSpPr txBox="1"/>
          <p:nvPr/>
        </p:nvSpPr>
        <p:spPr>
          <a:xfrm>
            <a:off x="4119602" y="841771"/>
            <a:ext cx="10266947" cy="1042951"/>
          </a:xfrm>
          <a:prstGeom prst="rect">
            <a:avLst/>
          </a:prstGeom>
        </p:spPr>
        <p:txBody>
          <a:bodyPr lIns="0" tIns="0" rIns="0" bIns="0" rtlCol="0" anchor="t">
            <a:spAutoFit/>
          </a:bodyPr>
          <a:lstStyle/>
          <a:p>
            <a:pPr algn="ctr">
              <a:lnSpc>
                <a:spcPts val="7615"/>
              </a:lnSpc>
              <a:spcBef>
                <a:spcPct val="0"/>
              </a:spcBef>
            </a:pPr>
            <a:r>
              <a:rPr lang="en-US" sz="5440" b="1">
                <a:solidFill>
                  <a:srgbClr val="000000"/>
                </a:solidFill>
                <a:latin typeface="Times New Roman Bold"/>
                <a:ea typeface="Times New Roman Bold"/>
                <a:cs typeface="Times New Roman Bold"/>
                <a:sym typeface="Times New Roman Bold"/>
              </a:rPr>
              <a:t>CONCLUSION &amp; THANK YOU</a:t>
            </a:r>
          </a:p>
        </p:txBody>
      </p:sp>
      <p:sp>
        <p:nvSpPr>
          <p:cNvPr id="8" name="TextBox 8"/>
          <p:cNvSpPr txBox="1"/>
          <p:nvPr/>
        </p:nvSpPr>
        <p:spPr>
          <a:xfrm>
            <a:off x="3895355" y="9794298"/>
            <a:ext cx="10491193" cy="333608"/>
          </a:xfrm>
          <a:prstGeom prst="rect">
            <a:avLst/>
          </a:prstGeom>
        </p:spPr>
        <p:txBody>
          <a:bodyPr lIns="0" tIns="0" rIns="0" bIns="0" rtlCol="0" anchor="t">
            <a:spAutoFit/>
          </a:bodyPr>
          <a:lstStyle/>
          <a:p>
            <a:pPr algn="ctr">
              <a:lnSpc>
                <a:spcPts val="2610"/>
              </a:lnSpc>
              <a:spcBef>
                <a:spcPct val="0"/>
              </a:spcBef>
            </a:pPr>
            <a:r>
              <a:rPr lang="en-US" sz="1865" b="1">
                <a:solidFill>
                  <a:srgbClr val="F4E9EC"/>
                </a:solidFill>
                <a:latin typeface="Poppins Semi-Bold"/>
                <a:ea typeface="Poppins Semi-Bold"/>
                <a:cs typeface="Poppins Semi-Bold"/>
                <a:sym typeface="Poppins Semi-Bold"/>
              </a:rPr>
              <a:t>Sri Indu College of Engg &amp; Tech - Cyber Club, Department of Cyber Security</a:t>
            </a:r>
          </a:p>
        </p:txBody>
      </p:sp>
      <p:sp>
        <p:nvSpPr>
          <p:cNvPr id="9" name="TextBox 9"/>
          <p:cNvSpPr txBox="1"/>
          <p:nvPr/>
        </p:nvSpPr>
        <p:spPr>
          <a:xfrm>
            <a:off x="793673" y="882423"/>
            <a:ext cx="1424228" cy="343535"/>
          </a:xfrm>
          <a:prstGeom prst="rect">
            <a:avLst/>
          </a:prstGeom>
        </p:spPr>
        <p:txBody>
          <a:bodyPr lIns="0" tIns="0" rIns="0" bIns="0" rtlCol="0" anchor="t">
            <a:spAutoFit/>
          </a:bodyPr>
          <a:lstStyle/>
          <a:p>
            <a:pPr algn="ctr">
              <a:lnSpc>
                <a:spcPts val="2705"/>
              </a:lnSpc>
            </a:pPr>
            <a:r>
              <a:rPr lang="en-AU" altLang="en-US" sz="1935" b="1">
                <a:solidFill>
                  <a:srgbClr val="000000"/>
                </a:solidFill>
                <a:latin typeface="Times New Roman Bold"/>
                <a:ea typeface="Times New Roman Bold"/>
                <a:cs typeface="Times New Roman Bold"/>
                <a:sym typeface="Times New Roman Bold"/>
              </a:rPr>
              <a:t>Cyber2</a:t>
            </a:r>
          </a:p>
        </p:txBody>
      </p:sp>
      <p:sp>
        <p:nvSpPr>
          <p:cNvPr id="10" name="TextBox 10"/>
          <p:cNvSpPr txBox="1"/>
          <p:nvPr/>
        </p:nvSpPr>
        <p:spPr>
          <a:xfrm>
            <a:off x="2868110" y="2839573"/>
            <a:ext cx="13286290" cy="4419480"/>
          </a:xfrm>
          <a:prstGeom prst="rect">
            <a:avLst/>
          </a:prstGeom>
        </p:spPr>
        <p:txBody>
          <a:bodyPr wrap="square" lIns="0" tIns="0" rIns="0" bIns="0" rtlCol="0" anchor="t">
            <a:spAutoFit/>
          </a:bodyPr>
          <a:lstStyle/>
          <a:p>
            <a:pPr marL="571500" indent="-571500">
              <a:buFont typeface="Arial" panose="020B0604020202020204" pitchFamily="34" charset="0"/>
              <a:buChar char="•"/>
            </a:pPr>
            <a:r>
              <a:rPr lang="en-US" sz="4000" dirty="0">
                <a:latin typeface="Times New Roman" panose="02020603050405020304" pitchFamily="18" charset="0"/>
                <a:cs typeface="Times New Roman" panose="02020603050405020304" pitchFamily="18" charset="0"/>
              </a:rPr>
              <a:t>The Face Recognition Attendance System provides a fast, secure, and efficient way to record attendance using computer vision. It reduces manual effort, prevents proxy attendance, and demonstrates the practical use of AI in daily tasks. With future improvements, it can become a complete smart attendance solution.</a:t>
            </a:r>
          </a:p>
          <a:p>
            <a:pPr marL="834390" lvl="1" indent="-417195" algn="l">
              <a:lnSpc>
                <a:spcPts val="6300"/>
              </a:lnSpc>
              <a:buFont typeface="Arial" charset="0"/>
              <a:buChar char="•"/>
            </a:pPr>
            <a:r>
              <a:rPr lang="en-US" sz="4000" dirty="0">
                <a:solidFill>
                  <a:srgbClr val="000000"/>
                </a:solidFill>
                <a:latin typeface="Times New Roman" panose="02020603050405020304" pitchFamily="18" charset="0"/>
                <a:ea typeface="Times New Roman"/>
                <a:cs typeface="Times New Roman" panose="02020603050405020304" pitchFamily="18" charset="0"/>
                <a:sym typeface="Times New Roman"/>
              </a:rPr>
              <a:t>Thank the organizers and mentors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145</TotalTime>
  <Words>792</Words>
  <Application>Microsoft Office PowerPoint</Application>
  <PresentationFormat>Custom</PresentationFormat>
  <Paragraphs>73</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Times New Roman Bold</vt:lpstr>
      <vt:lpstr>Poppins Semi-Bold</vt:lpstr>
      <vt:lpstr>Times New Roman</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Pink Gradient Modern Minimalist Computer Technology Presentation</dc:title>
  <dc:creator>Admin</dc:creator>
  <cp:lastModifiedBy>varsha reddy</cp:lastModifiedBy>
  <cp:revision>4</cp:revision>
  <dcterms:created xsi:type="dcterms:W3CDTF">1900-01-01T00:00:00Z</dcterms:created>
  <dcterms:modified xsi:type="dcterms:W3CDTF">2025-04-30T10:00:25Z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1552672EBEBCEBFE2FCF1168700FC026_32</vt:lpwstr>
  </property>
  <property fmtid="{D5CDD505-2E9C-101B-9397-08002B2CF9AE}" pid="3" name="KSOProductBuildVer">
    <vt:lpwstr>3081-11.34.01</vt:lpwstr>
  </property>
</Properties>
</file>